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786C"/>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3FA535"/>
          </a:solidFill>
          <a:ln/>
        </p:spPr>
      </p:sp>
      <p:sp>
        <p:nvSpPr>
          <p:cNvPr id="3" name="Shape 1"/>
          <p:cNvSpPr/>
          <p:nvPr/>
        </p:nvSpPr>
        <p:spPr>
          <a:xfrm>
            <a:off x="9921240" y="640080"/>
            <a:ext cx="1554480" cy="1554480"/>
          </a:xfrm>
          <a:prstGeom prst="ellipse">
            <a:avLst/>
          </a:prstGeom>
          <a:solidFill>
            <a:srgbClr val="FFFFFF"/>
          </a:solidFill>
          <a:ln w="12700">
            <a:solidFill>
              <a:srgbClr val="FFFFFF"/>
            </a:solidFill>
            <a:prstDash val="solid"/>
          </a:ln>
        </p:spPr>
      </p:sp>
      <p:pic>
        <p:nvPicPr>
          <p:cNvPr id="4" name="Image 0" descr="C:\Users\kusao\OneDrive\画像\logo-01.png">    </p:cNvPr>
          <p:cNvPicPr>
            <a:picLocks noChangeAspect="1"/>
          </p:cNvPicPr>
          <p:nvPr/>
        </p:nvPicPr>
        <p:blipFill>
          <a:blip r:embed="rId1"/>
          <a:stretch>
            <a:fillRect/>
          </a:stretch>
        </p:blipFill>
        <p:spPr>
          <a:xfrm>
            <a:off x="10149840" y="868680"/>
            <a:ext cx="1097280" cy="1097280"/>
          </a:xfrm>
          <a:prstGeom prst="rect">
            <a:avLst/>
          </a:prstGeom>
        </p:spPr>
      </p:pic>
      <p:sp>
        <p:nvSpPr>
          <p:cNvPr id="5" name="Text 2"/>
          <p:cNvSpPr/>
          <p:nvPr/>
        </p:nvSpPr>
        <p:spPr>
          <a:xfrm>
            <a:off x="914400" y="1371600"/>
            <a:ext cx="10058400" cy="457200"/>
          </a:xfrm>
          <a:prstGeom prst="rect">
            <a:avLst/>
          </a:prstGeom>
          <a:noFill/>
          <a:ln/>
        </p:spPr>
        <p:txBody>
          <a:bodyPr wrap="square" rtlCol="0" anchor="ctr"/>
          <a:lstStyle/>
          <a:p>
            <a:pPr indent="0" marL="0">
              <a:buNone/>
            </a:pPr>
            <a:r>
              <a:rPr lang="en-US" sz="1800" dirty="0">
                <a:solidFill>
                  <a:srgbClr val="FFFFFF"/>
                </a:solidFill>
                <a:latin typeface="Yu Gothic UI" pitchFamily="34" charset="0"/>
                <a:ea typeface="Yu Gothic UI" pitchFamily="34" charset="-122"/>
                <a:cs typeface="Yu Gothic UI" pitchFamily="34" charset="-120"/>
              </a:rPr>
              <a:t>高槻発 食品ロス削減アプリ</a:t>
            </a:r>
            <a:endParaRPr lang="en-US" sz="1800" dirty="0"/>
          </a:p>
        </p:txBody>
      </p:sp>
      <p:sp>
        <p:nvSpPr>
          <p:cNvPr id="6" name="Text 3"/>
          <p:cNvSpPr/>
          <p:nvPr/>
        </p:nvSpPr>
        <p:spPr>
          <a:xfrm>
            <a:off x="914400" y="1920240"/>
            <a:ext cx="8686800" cy="1371600"/>
          </a:xfrm>
          <a:prstGeom prst="rect">
            <a:avLst/>
          </a:prstGeom>
          <a:noFill/>
          <a:ln/>
        </p:spPr>
        <p:txBody>
          <a:bodyPr wrap="square" rtlCol="0" anchor="ctr"/>
          <a:lstStyle/>
          <a:p>
            <a:pPr indent="0" marL="0">
              <a:buNone/>
            </a:pPr>
            <a:r>
              <a:rPr lang="en-US" sz="9200" b="1" dirty="0">
                <a:solidFill>
                  <a:srgbClr val="FFFFFF"/>
                </a:solidFill>
                <a:latin typeface="Yu Gothic UI" pitchFamily="34" charset="0"/>
                <a:ea typeface="Yu Gothic UI" pitchFamily="34" charset="-122"/>
                <a:cs typeface="Yu Gothic UI" pitchFamily="34" charset="-120"/>
              </a:rPr>
              <a:t>おすそわけ</a:t>
            </a:r>
            <a:endParaRPr lang="en-US" sz="9200" dirty="0"/>
          </a:p>
        </p:txBody>
      </p:sp>
      <p:sp>
        <p:nvSpPr>
          <p:cNvPr id="7" name="Text 4"/>
          <p:cNvSpPr/>
          <p:nvPr/>
        </p:nvSpPr>
        <p:spPr>
          <a:xfrm>
            <a:off x="914400" y="3200400"/>
            <a:ext cx="8686800" cy="548640"/>
          </a:xfrm>
          <a:prstGeom prst="rect">
            <a:avLst/>
          </a:prstGeom>
          <a:noFill/>
          <a:ln/>
        </p:spPr>
        <p:txBody>
          <a:bodyPr wrap="square" rtlCol="0" anchor="ctr"/>
          <a:lstStyle/>
          <a:p>
            <a:pPr indent="0" marL="0">
              <a:buNone/>
            </a:pPr>
            <a:r>
              <a:rPr lang="en-US" sz="2600" i="1" dirty="0">
                <a:solidFill>
                  <a:srgbClr val="FFFFFF"/>
                </a:solidFill>
                <a:latin typeface="Yu Gothic UI" pitchFamily="34" charset="0"/>
                <a:ea typeface="Yu Gothic UI" pitchFamily="34" charset="-122"/>
                <a:cs typeface="Yu Gothic UI" pitchFamily="34" charset="-120"/>
              </a:rPr>
              <a:t>Osusowake</a:t>
            </a:r>
            <a:endParaRPr lang="en-US" sz="2600" dirty="0"/>
          </a:p>
        </p:txBody>
      </p:sp>
      <p:sp>
        <p:nvSpPr>
          <p:cNvPr id="8" name="Shape 5"/>
          <p:cNvSpPr/>
          <p:nvPr/>
        </p:nvSpPr>
        <p:spPr>
          <a:xfrm>
            <a:off x="914400" y="4206240"/>
            <a:ext cx="8412480" cy="640080"/>
          </a:xfrm>
          <a:prstGeom prst="rect">
            <a:avLst/>
          </a:prstGeom>
          <a:solidFill>
            <a:srgbClr val="FFFFFF"/>
          </a:solidFill>
          <a:ln/>
        </p:spPr>
      </p:sp>
      <p:sp>
        <p:nvSpPr>
          <p:cNvPr id="9" name="Text 6"/>
          <p:cNvSpPr/>
          <p:nvPr/>
        </p:nvSpPr>
        <p:spPr>
          <a:xfrm>
            <a:off x="914400" y="4206240"/>
            <a:ext cx="8412480" cy="640080"/>
          </a:xfrm>
          <a:prstGeom prst="rect">
            <a:avLst/>
          </a:prstGeom>
          <a:noFill/>
          <a:ln/>
        </p:spPr>
        <p:txBody>
          <a:bodyPr wrap="square" rtlCol="0" anchor="ctr"/>
          <a:lstStyle/>
          <a:p>
            <a:pPr algn="ctr" indent="0" marL="0">
              <a:buNone/>
            </a:pPr>
            <a:r>
              <a:rPr lang="en-US" sz="2400" b="1" dirty="0">
                <a:solidFill>
                  <a:srgbClr val="E8786C"/>
                </a:solidFill>
                <a:latin typeface="Yu Gothic UI" pitchFamily="34" charset="0"/>
                <a:ea typeface="Yu Gothic UI" pitchFamily="34" charset="-122"/>
                <a:cs typeface="Yu Gothic UI" pitchFamily="34" charset="-120"/>
              </a:rPr>
              <a:t>食品ロス削減と、高槻の地域活性化を。</a:t>
            </a:r>
            <a:endParaRPr lang="en-US" sz="2400" dirty="0"/>
          </a:p>
        </p:txBody>
      </p:sp>
      <p:sp>
        <p:nvSpPr>
          <p:cNvPr id="10" name="Text 7"/>
          <p:cNvSpPr/>
          <p:nvPr/>
        </p:nvSpPr>
        <p:spPr>
          <a:xfrm>
            <a:off x="914400" y="5120640"/>
            <a:ext cx="8412480" cy="457200"/>
          </a:xfrm>
          <a:prstGeom prst="rect">
            <a:avLst/>
          </a:prstGeom>
          <a:noFill/>
          <a:ln/>
        </p:spPr>
        <p:txBody>
          <a:bodyPr wrap="square" rtlCol="0" anchor="ctr"/>
          <a:lstStyle/>
          <a:p>
            <a:pPr indent="0" marL="0">
              <a:buNone/>
            </a:pPr>
            <a:r>
              <a:rPr lang="en-US" sz="1500" dirty="0">
                <a:solidFill>
                  <a:srgbClr val="FFF1EE"/>
                </a:solidFill>
                <a:latin typeface="Yu Gothic UI" pitchFamily="34" charset="0"/>
                <a:ea typeface="Yu Gothic UI" pitchFamily="34" charset="-122"/>
                <a:cs typeface="Yu Gothic UI" pitchFamily="34" charset="-120"/>
              </a:rPr>
              <a:t>高槻市副市長 八十 様 ご面談資料</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548640" y="914400"/>
            <a:ext cx="640080" cy="64008"/>
          </a:xfrm>
          <a:prstGeom prst="rect">
            <a:avLst/>
          </a:prstGeom>
          <a:solidFill>
            <a:srgbClr val="E8786C"/>
          </a:solidFill>
          <a:ln w="12700">
            <a:solidFill>
              <a:srgbClr val="E8786C"/>
            </a:solidFill>
            <a:prstDash val="solid"/>
          </a:ln>
        </p:spPr>
      </p:sp>
      <p:sp>
        <p:nvSpPr>
          <p:cNvPr id="3" name="Text 1"/>
          <p:cNvSpPr/>
          <p:nvPr/>
        </p:nvSpPr>
        <p:spPr>
          <a:xfrm>
            <a:off x="548640" y="1463040"/>
            <a:ext cx="10972800" cy="640080"/>
          </a:xfrm>
          <a:prstGeom prst="rect">
            <a:avLst/>
          </a:prstGeom>
          <a:noFill/>
          <a:ln/>
        </p:spPr>
        <p:txBody>
          <a:bodyPr wrap="square" rtlCol="0" anchor="ctr"/>
          <a:lstStyle/>
          <a:p>
            <a:pPr indent="0" marL="0">
              <a:buNone/>
            </a:pPr>
            <a:r>
              <a:rPr lang="en-US" sz="2800" dirty="0">
                <a:solidFill>
                  <a:srgbClr val="FFFFFF"/>
                </a:solidFill>
                <a:latin typeface="Yu Gothic UI" pitchFamily="34" charset="0"/>
                <a:ea typeface="Yu Gothic UI" pitchFamily="34" charset="-122"/>
                <a:cs typeface="Yu Gothic UI" pitchFamily="34" charset="-120"/>
              </a:rPr>
              <a:t>日本の食品ロス、年間</a:t>
            </a:r>
            <a:endParaRPr lang="en-US" sz="2800" dirty="0"/>
          </a:p>
        </p:txBody>
      </p:sp>
      <p:sp>
        <p:nvSpPr>
          <p:cNvPr id="4" name="Text 2"/>
          <p:cNvSpPr/>
          <p:nvPr/>
        </p:nvSpPr>
        <p:spPr>
          <a:xfrm>
            <a:off x="548640" y="2103120"/>
            <a:ext cx="7315200" cy="2926080"/>
          </a:xfrm>
          <a:prstGeom prst="rect">
            <a:avLst/>
          </a:prstGeom>
          <a:noFill/>
          <a:ln/>
        </p:spPr>
        <p:txBody>
          <a:bodyPr wrap="square" rtlCol="0" anchor="ctr"/>
          <a:lstStyle/>
          <a:p>
            <a:pPr indent="0" marL="0">
              <a:buNone/>
            </a:pPr>
            <a:r>
              <a:rPr lang="en-US" sz="28000" b="1" dirty="0">
                <a:solidFill>
                  <a:srgbClr val="E8786C"/>
                </a:solidFill>
                <a:latin typeface="Yu Gothic UI" pitchFamily="34" charset="0"/>
                <a:ea typeface="Yu Gothic UI" pitchFamily="34" charset="-122"/>
                <a:cs typeface="Yu Gothic UI" pitchFamily="34" charset="-120"/>
              </a:rPr>
              <a:t>464</a:t>
            </a:r>
            <a:endParaRPr lang="en-US" sz="28000" dirty="0"/>
          </a:p>
        </p:txBody>
      </p:sp>
      <p:sp>
        <p:nvSpPr>
          <p:cNvPr id="5" name="Text 3"/>
          <p:cNvSpPr/>
          <p:nvPr/>
        </p:nvSpPr>
        <p:spPr>
          <a:xfrm>
            <a:off x="6949440" y="3200400"/>
            <a:ext cx="4572000" cy="1371600"/>
          </a:xfrm>
          <a:prstGeom prst="rect">
            <a:avLst/>
          </a:prstGeom>
          <a:noFill/>
          <a:ln/>
        </p:spPr>
        <p:txBody>
          <a:bodyPr wrap="square" rtlCol="0" anchor="ctr"/>
          <a:lstStyle/>
          <a:p>
            <a:pPr indent="0" marL="0">
              <a:buNone/>
            </a:pPr>
            <a:r>
              <a:rPr lang="en-US" sz="5600" b="1" dirty="0">
                <a:solidFill>
                  <a:srgbClr val="FFFFFF"/>
                </a:solidFill>
                <a:latin typeface="Yu Gothic UI" pitchFamily="34" charset="0"/>
                <a:ea typeface="Yu Gothic UI" pitchFamily="34" charset="-122"/>
                <a:cs typeface="Yu Gothic UI" pitchFamily="34" charset="-120"/>
              </a:rPr>
              <a:t>万トン</a:t>
            </a:r>
            <a:endParaRPr lang="en-US" sz="5600" dirty="0"/>
          </a:p>
        </p:txBody>
      </p:sp>
      <p:sp>
        <p:nvSpPr>
          <p:cNvPr id="6" name="Shape 4"/>
          <p:cNvSpPr/>
          <p:nvPr/>
        </p:nvSpPr>
        <p:spPr>
          <a:xfrm>
            <a:off x="548640" y="5303520"/>
            <a:ext cx="10972800" cy="54864"/>
          </a:xfrm>
          <a:prstGeom prst="rect">
            <a:avLst/>
          </a:prstGeom>
          <a:solidFill>
            <a:srgbClr val="E8786C"/>
          </a:solidFill>
          <a:ln/>
        </p:spPr>
      </p:sp>
      <p:sp>
        <p:nvSpPr>
          <p:cNvPr id="7" name="Text 5"/>
          <p:cNvSpPr/>
          <p:nvPr/>
        </p:nvSpPr>
        <p:spPr>
          <a:xfrm>
            <a:off x="548640" y="5486400"/>
            <a:ext cx="10972800" cy="548640"/>
          </a:xfrm>
          <a:prstGeom prst="rect">
            <a:avLst/>
          </a:prstGeom>
          <a:noFill/>
          <a:ln/>
        </p:spPr>
        <p:txBody>
          <a:bodyPr wrap="square" rtlCol="0" anchor="ctr"/>
          <a:lstStyle/>
          <a:p>
            <a:pPr indent="0" marL="0">
              <a:buNone/>
            </a:pPr>
            <a:r>
              <a:rPr lang="en-US" sz="2100" dirty="0">
                <a:solidFill>
                  <a:srgbClr val="FFFFFF"/>
                </a:solidFill>
                <a:latin typeface="Yu Gothic UI" pitchFamily="34" charset="0"/>
                <a:ea typeface="Yu Gothic UI" pitchFamily="34" charset="-122"/>
                <a:cs typeface="Yu Gothic UI" pitchFamily="34" charset="-120"/>
              </a:rPr>
              <a:t>国民1人あたり、お茶碗1杯分（約102g）の食品を毎日捨てている計算</a:t>
            </a:r>
            <a:endParaRPr lang="en-US" sz="2100" dirty="0"/>
          </a:p>
        </p:txBody>
      </p:sp>
      <p:sp>
        <p:nvSpPr>
          <p:cNvPr id="8" name="Text 6"/>
          <p:cNvSpPr/>
          <p:nvPr/>
        </p:nvSpPr>
        <p:spPr>
          <a:xfrm>
            <a:off x="548640" y="6126480"/>
            <a:ext cx="10972800" cy="365760"/>
          </a:xfrm>
          <a:prstGeom prst="rect">
            <a:avLst/>
          </a:prstGeom>
          <a:noFill/>
          <a:ln/>
        </p:spPr>
        <p:txBody>
          <a:bodyPr wrap="square" rtlCol="0" anchor="ctr"/>
          <a:lstStyle/>
          <a:p>
            <a:pPr indent="0" marL="0">
              <a:buNone/>
            </a:pPr>
            <a:r>
              <a:rPr lang="en-US" sz="1100" i="1" dirty="0">
                <a:solidFill>
                  <a:srgbClr val="AAAAAA"/>
                </a:solidFill>
                <a:latin typeface="Yu Gothic UI" pitchFamily="34" charset="0"/>
                <a:ea typeface="Yu Gothic UI" pitchFamily="34" charset="-122"/>
                <a:cs typeface="Yu Gothic UI" pitchFamily="34" charset="-120"/>
              </a:rPr>
              <a:t>出典：環境省・農林水産省（令和5年度推計）</a:t>
            </a:r>
            <a:endParaRPr lang="en-US" sz="1100" dirty="0"/>
          </a:p>
        </p:txBody>
      </p:sp>
      <p:sp>
        <p:nvSpPr>
          <p:cNvPr id="9" name="Text 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AAAAAA"/>
                </a:solidFill>
                <a:latin typeface="Yu Gothic UI" pitchFamily="34" charset="0"/>
                <a:ea typeface="Yu Gothic UI" pitchFamily="34" charset="-122"/>
                <a:cs typeface="Yu Gothic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高槻市の場合</a:t>
            </a:r>
            <a:endParaRPr lang="en-US" sz="3000" dirty="0"/>
          </a:p>
        </p:txBody>
      </p:sp>
      <p:sp>
        <p:nvSpPr>
          <p:cNvPr id="4" name="Shape 2"/>
          <p:cNvSpPr/>
          <p:nvPr/>
        </p:nvSpPr>
        <p:spPr>
          <a:xfrm>
            <a:off x="548640" y="2011680"/>
            <a:ext cx="5394960" cy="3931920"/>
          </a:xfrm>
          <a:prstGeom prst="roundRect">
            <a:avLst>
              <a:gd name="adj" fmla="val 3488"/>
            </a:avLst>
          </a:prstGeom>
          <a:solidFill>
            <a:srgbClr val="2B2B2B"/>
          </a:solidFill>
          <a:ln w="12700">
            <a:solidFill>
              <a:srgbClr val="2B2B2B"/>
            </a:solidFill>
            <a:prstDash val="solid"/>
          </a:ln>
        </p:spPr>
      </p:sp>
      <p:sp>
        <p:nvSpPr>
          <p:cNvPr id="5" name="Text 3"/>
          <p:cNvSpPr/>
          <p:nvPr/>
        </p:nvSpPr>
        <p:spPr>
          <a:xfrm>
            <a:off x="731520" y="2377440"/>
            <a:ext cx="5029200" cy="731520"/>
          </a:xfrm>
          <a:prstGeom prst="rect">
            <a:avLst/>
          </a:prstGeom>
          <a:noFill/>
          <a:ln/>
        </p:spPr>
        <p:txBody>
          <a:bodyPr wrap="square" rtlCol="0" anchor="ctr"/>
          <a:lstStyle/>
          <a:p>
            <a:pPr algn="ctr" indent="0" marL="0">
              <a:buNone/>
            </a:pPr>
            <a:r>
              <a:rPr lang="en-US" sz="1500" b="1" dirty="0">
                <a:solidFill>
                  <a:srgbClr val="FFB3AA"/>
                </a:solidFill>
                <a:latin typeface="Yu Gothic UI" pitchFamily="34" charset="0"/>
                <a:ea typeface="Yu Gothic UI" pitchFamily="34" charset="-122"/>
                <a:cs typeface="Yu Gothic UI" pitchFamily="34" charset="-120"/>
              </a:rPr>
              <a:t>高槻市民 一人あたりの</a:t>
            </a:r>
            <a:endParaRPr lang="en-US" sz="1500" dirty="0"/>
          </a:p>
          <a:p>
            <a:pPr algn="ctr" indent="0" marL="0">
              <a:buNone/>
            </a:pPr>
            <a:r>
              <a:rPr lang="en-US" sz="1500" b="1" dirty="0">
                <a:solidFill>
                  <a:srgbClr val="FFB3AA"/>
                </a:solidFill>
                <a:latin typeface="Yu Gothic UI" pitchFamily="34" charset="0"/>
                <a:ea typeface="Yu Gothic UI" pitchFamily="34" charset="-122"/>
                <a:cs typeface="Yu Gothic UI" pitchFamily="34" charset="-120"/>
              </a:rPr>
              <a:t>家庭系食品ロス</a:t>
            </a:r>
            <a:endParaRPr lang="en-US" sz="1500" dirty="0"/>
          </a:p>
        </p:txBody>
      </p:sp>
      <p:sp>
        <p:nvSpPr>
          <p:cNvPr id="6" name="Text 4"/>
          <p:cNvSpPr/>
          <p:nvPr/>
        </p:nvSpPr>
        <p:spPr>
          <a:xfrm>
            <a:off x="548640" y="3383280"/>
            <a:ext cx="5394960" cy="1188720"/>
          </a:xfrm>
          <a:prstGeom prst="rect">
            <a:avLst/>
          </a:prstGeom>
          <a:noFill/>
          <a:ln/>
        </p:spPr>
        <p:txBody>
          <a:bodyPr wrap="square" rtlCol="0" anchor="ctr"/>
          <a:lstStyle/>
          <a:p>
            <a:pPr algn="ctr" indent="0" marL="0">
              <a:buNone/>
            </a:pPr>
            <a:r>
              <a:rPr lang="en-US" sz="8800" b="1" dirty="0">
                <a:solidFill>
                  <a:srgbClr val="FFFFFF"/>
                </a:solidFill>
                <a:latin typeface="Yu Gothic UI" pitchFamily="34" charset="0"/>
                <a:ea typeface="Yu Gothic UI" pitchFamily="34" charset="-122"/>
                <a:cs typeface="Yu Gothic UI" pitchFamily="34" charset="-120"/>
              </a:rPr>
              <a:t>約 21</a:t>
            </a:r>
            <a:pPr algn="ctr" indent="0" marL="0">
              <a:buNone/>
            </a:pPr>
            <a:r>
              <a:rPr lang="en-US" sz="2400" dirty="0">
                <a:solidFill>
                  <a:srgbClr val="FFFFFF"/>
                </a:solidFill>
                <a:latin typeface="Yu Gothic UI" pitchFamily="34" charset="0"/>
                <a:ea typeface="Yu Gothic UI" pitchFamily="34" charset="-122"/>
                <a:cs typeface="Yu Gothic UI" pitchFamily="34" charset="-120"/>
              </a:rPr>
              <a:t>  kg/年</a:t>
            </a:r>
            <a:endParaRPr lang="en-US" sz="8800" dirty="0"/>
          </a:p>
        </p:txBody>
      </p:sp>
      <p:sp>
        <p:nvSpPr>
          <p:cNvPr id="7" name="Shape 5"/>
          <p:cNvSpPr/>
          <p:nvPr/>
        </p:nvSpPr>
        <p:spPr>
          <a:xfrm>
            <a:off x="6217920" y="2011680"/>
            <a:ext cx="5394960" cy="3931920"/>
          </a:xfrm>
          <a:prstGeom prst="roundRect">
            <a:avLst>
              <a:gd name="adj" fmla="val 3488"/>
            </a:avLst>
          </a:prstGeom>
          <a:solidFill>
            <a:srgbClr val="FFF1EE"/>
          </a:solidFill>
          <a:ln w="12700">
            <a:solidFill>
              <a:srgbClr val="FFF1EE"/>
            </a:solidFill>
            <a:prstDash val="solid"/>
          </a:ln>
        </p:spPr>
      </p:sp>
      <p:sp>
        <p:nvSpPr>
          <p:cNvPr id="8" name="Text 6"/>
          <p:cNvSpPr/>
          <p:nvPr/>
        </p:nvSpPr>
        <p:spPr>
          <a:xfrm>
            <a:off x="6400800" y="2377440"/>
            <a:ext cx="5029200" cy="731520"/>
          </a:xfrm>
          <a:prstGeom prst="rect">
            <a:avLst/>
          </a:prstGeom>
          <a:noFill/>
          <a:ln/>
        </p:spPr>
        <p:txBody>
          <a:bodyPr wrap="square" rtlCol="0" anchor="ctr"/>
          <a:lstStyle/>
          <a:p>
            <a:pPr algn="ctr" indent="0" marL="0">
              <a:buNone/>
            </a:pPr>
            <a:r>
              <a:rPr lang="en-US" sz="1500" b="1" dirty="0">
                <a:solidFill>
                  <a:srgbClr val="E8786C"/>
                </a:solidFill>
                <a:latin typeface="Yu Gothic UI" pitchFamily="34" charset="0"/>
                <a:ea typeface="Yu Gothic UI" pitchFamily="34" charset="-122"/>
                <a:cs typeface="Yu Gothic UI" pitchFamily="34" charset="-120"/>
              </a:rPr>
              <a:t>食品ロスを「問題」と</a:t>
            </a:r>
            <a:endParaRPr lang="en-US" sz="1500" dirty="0"/>
          </a:p>
          <a:p>
            <a:pPr algn="ctr" indent="0" marL="0">
              <a:buNone/>
            </a:pPr>
            <a:r>
              <a:rPr lang="en-US" sz="1500" b="1" dirty="0">
                <a:solidFill>
                  <a:srgbClr val="E8786C"/>
                </a:solidFill>
                <a:latin typeface="Yu Gothic UI" pitchFamily="34" charset="0"/>
                <a:ea typeface="Yu Gothic UI" pitchFamily="34" charset="-122"/>
                <a:cs typeface="Yu Gothic UI" pitchFamily="34" charset="-120"/>
              </a:rPr>
              <a:t>認知している市民</a:t>
            </a:r>
            <a:endParaRPr lang="en-US" sz="1500" dirty="0"/>
          </a:p>
        </p:txBody>
      </p:sp>
      <p:sp>
        <p:nvSpPr>
          <p:cNvPr id="9" name="Text 7"/>
          <p:cNvSpPr/>
          <p:nvPr/>
        </p:nvSpPr>
        <p:spPr>
          <a:xfrm>
            <a:off x="6217920" y="3383280"/>
            <a:ext cx="5394960" cy="1188720"/>
          </a:xfrm>
          <a:prstGeom prst="rect">
            <a:avLst/>
          </a:prstGeom>
          <a:noFill/>
          <a:ln/>
        </p:spPr>
        <p:txBody>
          <a:bodyPr wrap="square" rtlCol="0" anchor="ctr"/>
          <a:lstStyle/>
          <a:p>
            <a:pPr algn="ctr" indent="0" marL="0">
              <a:buNone/>
            </a:pPr>
            <a:r>
              <a:rPr lang="en-US" sz="8800" b="1" dirty="0">
                <a:solidFill>
                  <a:srgbClr val="2B2B2B"/>
                </a:solidFill>
                <a:latin typeface="Yu Gothic UI" pitchFamily="34" charset="0"/>
                <a:ea typeface="Yu Gothic UI" pitchFamily="34" charset="-122"/>
                <a:cs typeface="Yu Gothic UI" pitchFamily="34" charset="-120"/>
              </a:rPr>
              <a:t>81.1</a:t>
            </a:r>
            <a:pPr algn="ctr" indent="0" marL="0">
              <a:buNone/>
            </a:pPr>
            <a:r>
              <a:rPr lang="en-US" sz="3200" dirty="0">
                <a:solidFill>
                  <a:srgbClr val="666666"/>
                </a:solidFill>
                <a:latin typeface="Yu Gothic UI" pitchFamily="34" charset="0"/>
                <a:ea typeface="Yu Gothic UI" pitchFamily="34" charset="-122"/>
                <a:cs typeface="Yu Gothic UI" pitchFamily="34" charset="-120"/>
              </a:rPr>
              <a:t> %</a:t>
            </a:r>
            <a:endParaRPr lang="en-US" sz="8800" dirty="0"/>
          </a:p>
        </p:txBody>
      </p:sp>
      <p:sp>
        <p:nvSpPr>
          <p:cNvPr id="10" name="Text 8"/>
          <p:cNvSpPr/>
          <p:nvPr/>
        </p:nvSpPr>
        <p:spPr>
          <a:xfrm>
            <a:off x="548640" y="6172200"/>
            <a:ext cx="11064240" cy="411480"/>
          </a:xfrm>
          <a:prstGeom prst="rect">
            <a:avLst/>
          </a:prstGeom>
          <a:noFill/>
          <a:ln/>
        </p:spPr>
        <p:txBody>
          <a:bodyPr wrap="square" rtlCol="0" anchor="ctr"/>
          <a:lstStyle/>
          <a:p>
            <a:pPr algn="ctr" indent="0" marL="0">
              <a:buNone/>
            </a:pPr>
            <a:r>
              <a:rPr lang="en-US" sz="1200" b="1" dirty="0">
                <a:solidFill>
                  <a:srgbClr val="1E2761"/>
                </a:solidFill>
                <a:latin typeface="Yu Gothic UI" pitchFamily="34" charset="0"/>
                <a:ea typeface="Yu Gothic UI" pitchFamily="34" charset="-122"/>
                <a:cs typeface="Yu Gothic UI" pitchFamily="34" charset="-120"/>
              </a:rPr>
              <a:t>出典：高槻市 令和7年度 第2回 廃棄物減量等推進審議会（一般廃棄物処理基本計画 素案／消費生活意識調査）</a:t>
            </a:r>
            <a:endParaRPr lang="en-US" sz="1200" dirty="0"/>
          </a:p>
        </p:txBody>
      </p:sp>
      <p:sp>
        <p:nvSpPr>
          <p:cNvPr id="11" name="Text 9"/>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1E2761"/>
          </a:solidFill>
          <a:ln w="12700">
            <a:solidFill>
              <a:srgbClr val="1E2761"/>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市が求める「先進的な取組」は、すでに高槻で動いています</a:t>
            </a:r>
            <a:endParaRPr lang="en-US" sz="3000" dirty="0"/>
          </a:p>
        </p:txBody>
      </p:sp>
      <p:sp>
        <p:nvSpPr>
          <p:cNvPr id="4" name="Text 2"/>
          <p:cNvSpPr/>
          <p:nvPr/>
        </p:nvSpPr>
        <p:spPr>
          <a:xfrm>
            <a:off x="548640" y="1965960"/>
            <a:ext cx="11064240" cy="457200"/>
          </a:xfrm>
          <a:prstGeom prst="rect">
            <a:avLst/>
          </a:prstGeom>
          <a:noFill/>
          <a:ln/>
        </p:spPr>
        <p:txBody>
          <a:bodyPr wrap="square" rtlCol="0" anchor="ctr"/>
          <a:lstStyle/>
          <a:p>
            <a:pPr indent="0" marL="0">
              <a:buNone/>
            </a:pPr>
            <a:r>
              <a:rPr lang="en-US" sz="1600" b="1" dirty="0">
                <a:solidFill>
                  <a:srgbClr val="666666"/>
                </a:solidFill>
                <a:latin typeface="Yu Gothic UI" pitchFamily="34" charset="0"/>
                <a:ea typeface="Yu Gothic UI" pitchFamily="34" charset="-122"/>
                <a:cs typeface="Yu Gothic UI" pitchFamily="34" charset="-120"/>
              </a:rPr>
              <a:t>高槻市 一般廃棄物処理基本計画（策定中・食品ロス削減を新たに重点化）</a:t>
            </a:r>
            <a:endParaRPr lang="en-US" sz="1600" dirty="0"/>
          </a:p>
        </p:txBody>
      </p:sp>
      <p:sp>
        <p:nvSpPr>
          <p:cNvPr id="5" name="Shape 3"/>
          <p:cNvSpPr/>
          <p:nvPr/>
        </p:nvSpPr>
        <p:spPr>
          <a:xfrm>
            <a:off x="548640" y="2606040"/>
            <a:ext cx="11064240" cy="2377440"/>
          </a:xfrm>
          <a:prstGeom prst="roundRect">
            <a:avLst>
              <a:gd name="adj" fmla="val 4615"/>
            </a:avLst>
          </a:prstGeom>
          <a:solidFill>
            <a:srgbClr val="EAECF5"/>
          </a:solidFill>
          <a:ln w="25400">
            <a:solidFill>
              <a:srgbClr val="1E2761"/>
            </a:solidFill>
            <a:prstDash val="solid"/>
          </a:ln>
        </p:spPr>
      </p:sp>
      <p:sp>
        <p:nvSpPr>
          <p:cNvPr id="6" name="Shape 4"/>
          <p:cNvSpPr/>
          <p:nvPr/>
        </p:nvSpPr>
        <p:spPr>
          <a:xfrm>
            <a:off x="548640" y="2606040"/>
            <a:ext cx="109728" cy="2377440"/>
          </a:xfrm>
          <a:prstGeom prst="rect">
            <a:avLst/>
          </a:prstGeom>
          <a:solidFill>
            <a:srgbClr val="1E2761"/>
          </a:solidFill>
          <a:ln w="12700">
            <a:solidFill>
              <a:srgbClr val="1E2761"/>
            </a:solidFill>
            <a:prstDash val="solid"/>
          </a:ln>
        </p:spPr>
      </p:sp>
      <p:sp>
        <p:nvSpPr>
          <p:cNvPr id="7" name="Text 5"/>
          <p:cNvSpPr/>
          <p:nvPr/>
        </p:nvSpPr>
        <p:spPr>
          <a:xfrm>
            <a:off x="777240" y="2514600"/>
            <a:ext cx="1097280" cy="914400"/>
          </a:xfrm>
          <a:prstGeom prst="rect">
            <a:avLst/>
          </a:prstGeom>
          <a:noFill/>
          <a:ln/>
        </p:spPr>
        <p:txBody>
          <a:bodyPr wrap="square" rtlCol="0" anchor="ctr"/>
          <a:lstStyle/>
          <a:p>
            <a:pPr indent="0" marL="0">
              <a:buNone/>
            </a:pPr>
            <a:r>
              <a:rPr lang="en-US" sz="7200" b="1" dirty="0">
                <a:solidFill>
                  <a:srgbClr val="1E2761"/>
                </a:solidFill>
                <a:latin typeface="Yu Gothic UI" pitchFamily="34" charset="0"/>
                <a:ea typeface="Yu Gothic UI" pitchFamily="34" charset="-122"/>
                <a:cs typeface="Yu Gothic UI" pitchFamily="34" charset="-120"/>
              </a:rPr>
              <a:t>“</a:t>
            </a:r>
            <a:endParaRPr lang="en-US" sz="7200" dirty="0"/>
          </a:p>
        </p:txBody>
      </p:sp>
      <p:sp>
        <p:nvSpPr>
          <p:cNvPr id="8" name="Text 6"/>
          <p:cNvSpPr/>
          <p:nvPr/>
        </p:nvSpPr>
        <p:spPr>
          <a:xfrm>
            <a:off x="1554480" y="2971800"/>
            <a:ext cx="9601200" cy="1737360"/>
          </a:xfrm>
          <a:prstGeom prst="rect">
            <a:avLst/>
          </a:prstGeom>
          <a:noFill/>
          <a:ln/>
        </p:spPr>
        <p:txBody>
          <a:bodyPr wrap="square" rtlCol="0" anchor="ctr"/>
          <a:lstStyle/>
          <a:p>
            <a:pPr indent="0" marL="0">
              <a:lnSpc>
                <a:spcPct val="115000"/>
              </a:lnSpc>
              <a:buNone/>
            </a:pPr>
            <a:r>
              <a:rPr lang="en-US" sz="2500" b="1" dirty="0">
                <a:solidFill>
                  <a:srgbClr val="1E2761"/>
                </a:solidFill>
                <a:latin typeface="Yu Gothic UI" pitchFamily="34" charset="0"/>
                <a:ea typeface="Yu Gothic UI" pitchFamily="34" charset="-122"/>
                <a:cs typeface="Yu Gothic UI" pitchFamily="34" charset="-120"/>
              </a:rPr>
              <a:t>アプリ・プラットフォームを用いた先進的な取組について</a:t>
            </a:r>
            <a:endParaRPr lang="en-US" sz="2500" dirty="0"/>
          </a:p>
          <a:p>
            <a:pPr indent="0" marL="0">
              <a:lnSpc>
                <a:spcPct val="115000"/>
              </a:lnSpc>
              <a:buNone/>
            </a:pPr>
            <a:r>
              <a:rPr lang="en-US" sz="2500" b="1" dirty="0">
                <a:solidFill>
                  <a:srgbClr val="1E2761"/>
                </a:solidFill>
                <a:latin typeface="Yu Gothic UI" pitchFamily="34" charset="0"/>
                <a:ea typeface="Yu Gothic UI" pitchFamily="34" charset="-122"/>
                <a:cs typeface="Yu Gothic UI" pitchFamily="34" charset="-120"/>
              </a:rPr>
              <a:t>情報収集を行い、検討を進めて参りたい</a:t>
            </a:r>
            <a:endParaRPr lang="en-US" sz="2500" dirty="0"/>
          </a:p>
        </p:txBody>
      </p:sp>
      <p:sp>
        <p:nvSpPr>
          <p:cNvPr id="9" name="Text 7"/>
          <p:cNvSpPr/>
          <p:nvPr/>
        </p:nvSpPr>
        <p:spPr>
          <a:xfrm>
            <a:off x="548640" y="5120640"/>
            <a:ext cx="11064240" cy="365760"/>
          </a:xfrm>
          <a:prstGeom prst="rect">
            <a:avLst/>
          </a:prstGeom>
          <a:noFill/>
          <a:ln/>
        </p:spPr>
        <p:txBody>
          <a:bodyPr wrap="square" rtlCol="0" anchor="ctr"/>
          <a:lstStyle/>
          <a:p>
            <a:pPr indent="0" marL="0">
              <a:buNone/>
            </a:pPr>
            <a:r>
              <a:rPr lang="en-US" sz="1200" i="1" dirty="0">
                <a:solidFill>
                  <a:srgbClr val="666666"/>
                </a:solidFill>
                <a:latin typeface="Yu Gothic UI" pitchFamily="34" charset="0"/>
                <a:ea typeface="Yu Gothic UI" pitchFamily="34" charset="-122"/>
                <a:cs typeface="Yu Gothic UI" pitchFamily="34" charset="-120"/>
              </a:rPr>
              <a:t>出典：高槻市 令和7年度 第2回 廃棄物減量等推進審議会</a:t>
            </a:r>
            <a:endParaRPr lang="en-US" sz="1200" dirty="0"/>
          </a:p>
        </p:txBody>
      </p:sp>
      <p:sp>
        <p:nvSpPr>
          <p:cNvPr id="10" name="Shape 8"/>
          <p:cNvSpPr/>
          <p:nvPr/>
        </p:nvSpPr>
        <p:spPr>
          <a:xfrm>
            <a:off x="548640" y="5669280"/>
            <a:ext cx="11064240" cy="685800"/>
          </a:xfrm>
          <a:prstGeom prst="roundRect">
            <a:avLst>
              <a:gd name="adj" fmla="val 13333"/>
            </a:avLst>
          </a:prstGeom>
          <a:solidFill>
            <a:srgbClr val="FFF1EE"/>
          </a:solidFill>
          <a:ln w="12700">
            <a:solidFill>
              <a:srgbClr val="FFF1EE"/>
            </a:solidFill>
            <a:prstDash val="solid"/>
          </a:ln>
        </p:spPr>
      </p:sp>
      <p:sp>
        <p:nvSpPr>
          <p:cNvPr id="11" name="Text 9"/>
          <p:cNvSpPr/>
          <p:nvPr/>
        </p:nvSpPr>
        <p:spPr>
          <a:xfrm>
            <a:off x="548640" y="5669280"/>
            <a:ext cx="11064240" cy="68580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構想でも実証実験でもありません。</a:t>
            </a:r>
            <a:pPr algn="ctr" indent="0" marL="0">
              <a:buNone/>
            </a:pPr>
            <a:r>
              <a:rPr lang="en-US" sz="1700" b="1" dirty="0">
                <a:solidFill>
                  <a:srgbClr val="E8786C"/>
                </a:solidFill>
                <a:latin typeface="Yu Gothic UI" pitchFamily="34" charset="0"/>
                <a:ea typeface="Yu Gothic UI" pitchFamily="34" charset="-122"/>
                <a:cs typeface="Yu Gothic UI" pitchFamily="34" charset="-120"/>
              </a:rPr>
              <a:t>市内27店舗・3,000ダウンロード</a:t>
            </a:r>
            <a:pPr algn="ctr" indent="0" marL="0">
              <a:buNone/>
            </a:pPr>
            <a:r>
              <a:rPr lang="en-US" sz="1700" b="1" dirty="0">
                <a:solidFill>
                  <a:srgbClr val="2B2B2B"/>
                </a:solidFill>
                <a:latin typeface="Yu Gothic UI" pitchFamily="34" charset="0"/>
                <a:ea typeface="Yu Gothic UI" pitchFamily="34" charset="-122"/>
                <a:cs typeface="Yu Gothic UI" pitchFamily="34" charset="-120"/>
              </a:rPr>
              <a:t>で、すでに稼働しています。</a:t>
            </a:r>
            <a:endParaRPr lang="en-US" sz="1700" dirty="0"/>
          </a:p>
        </p:txBody>
      </p:sp>
      <p:sp>
        <p:nvSpPr>
          <p:cNvPr id="12" name="Text 10"/>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実際の流れ</a:t>
            </a:r>
            <a:endParaRPr lang="en-US" sz="3000" dirty="0"/>
          </a:p>
        </p:txBody>
      </p:sp>
      <p:sp>
        <p:nvSpPr>
          <p:cNvPr id="4" name="Shape 2"/>
          <p:cNvSpPr/>
          <p:nvPr/>
        </p:nvSpPr>
        <p:spPr>
          <a:xfrm>
            <a:off x="548640" y="2194560"/>
            <a:ext cx="3566160" cy="3840480"/>
          </a:xfrm>
          <a:prstGeom prst="roundRect">
            <a:avLst>
              <a:gd name="adj" fmla="val 3846"/>
            </a:avLst>
          </a:prstGeom>
          <a:solidFill>
            <a:srgbClr val="FFF1EE"/>
          </a:solidFill>
          <a:ln w="12700">
            <a:solidFill>
              <a:srgbClr val="FFF1EE"/>
            </a:solidFill>
            <a:prstDash val="solid"/>
          </a:ln>
        </p:spPr>
      </p:sp>
      <p:sp>
        <p:nvSpPr>
          <p:cNvPr id="5" name="Text 3"/>
          <p:cNvSpPr/>
          <p:nvPr/>
        </p:nvSpPr>
        <p:spPr>
          <a:xfrm>
            <a:off x="731520" y="2286000"/>
            <a:ext cx="1828800" cy="548640"/>
          </a:xfrm>
          <a:prstGeom prst="rect">
            <a:avLst/>
          </a:prstGeom>
          <a:noFill/>
          <a:ln/>
        </p:spPr>
        <p:txBody>
          <a:bodyPr wrap="square" rtlCol="0" anchor="ctr"/>
          <a:lstStyle/>
          <a:p>
            <a:pPr indent="0" marL="0">
              <a:buNone/>
            </a:pPr>
            <a:r>
              <a:rPr lang="en-US" sz="3600" b="1" dirty="0">
                <a:solidFill>
                  <a:srgbClr val="E8786C"/>
                </a:solidFill>
                <a:latin typeface="Yu Gothic UI" pitchFamily="34" charset="0"/>
                <a:ea typeface="Yu Gothic UI" pitchFamily="34" charset="-122"/>
                <a:cs typeface="Yu Gothic UI" pitchFamily="34" charset="-120"/>
              </a:rPr>
              <a:t>01</a:t>
            </a:r>
            <a:endParaRPr lang="en-US" sz="3600" dirty="0"/>
          </a:p>
        </p:txBody>
      </p:sp>
      <p:sp>
        <p:nvSpPr>
          <p:cNvPr id="6" name="Text 4"/>
          <p:cNvSpPr/>
          <p:nvPr/>
        </p:nvSpPr>
        <p:spPr>
          <a:xfrm>
            <a:off x="548640" y="3017520"/>
            <a:ext cx="356616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7" name="Text 5"/>
          <p:cNvSpPr/>
          <p:nvPr/>
        </p:nvSpPr>
        <p:spPr>
          <a:xfrm>
            <a:off x="548640" y="4297680"/>
            <a:ext cx="3566160" cy="548640"/>
          </a:xfrm>
          <a:prstGeom prst="rect">
            <a:avLst/>
          </a:prstGeom>
          <a:noFill/>
          <a:ln/>
        </p:spPr>
        <p:txBody>
          <a:bodyPr wrap="square" rtlCol="0" anchor="ctr"/>
          <a:lstStyle/>
          <a:p>
            <a:pPr algn="ctr" indent="0" marL="0">
              <a:buNone/>
            </a:pPr>
            <a:r>
              <a:rPr lang="en-US" sz="2400" b="1" dirty="0">
                <a:solidFill>
                  <a:srgbClr val="2B2B2B"/>
                </a:solidFill>
                <a:latin typeface="Yu Gothic UI" pitchFamily="34" charset="0"/>
                <a:ea typeface="Yu Gothic UI" pitchFamily="34" charset="-122"/>
                <a:cs typeface="Yu Gothic UI" pitchFamily="34" charset="-120"/>
              </a:rPr>
              <a:t>お店が出品する</a:t>
            </a:r>
            <a:endParaRPr lang="en-US" sz="2400" dirty="0"/>
          </a:p>
        </p:txBody>
      </p:sp>
      <p:sp>
        <p:nvSpPr>
          <p:cNvPr id="8" name="Text 6"/>
          <p:cNvSpPr/>
          <p:nvPr/>
        </p:nvSpPr>
        <p:spPr>
          <a:xfrm>
            <a:off x="731520" y="4937760"/>
            <a:ext cx="3200400" cy="1005840"/>
          </a:xfrm>
          <a:prstGeom prst="rect">
            <a:avLst/>
          </a:prstGeom>
          <a:noFill/>
          <a:ln/>
        </p:spPr>
        <p:txBody>
          <a:bodyPr wrap="square" rtlCol="0" anchor="ctr"/>
          <a:lstStyle/>
          <a:p>
            <a:pPr algn="ctr" indent="0" marL="0">
              <a:buNone/>
            </a:pPr>
            <a:r>
              <a:rPr lang="en-US" sz="1400" dirty="0">
                <a:solidFill>
                  <a:srgbClr val="666666"/>
                </a:solidFill>
                <a:latin typeface="Yu Gothic UI" pitchFamily="34" charset="0"/>
                <a:ea typeface="Yu Gothic UI" pitchFamily="34" charset="-122"/>
                <a:cs typeface="Yu Gothic UI" pitchFamily="34" charset="-120"/>
              </a:rPr>
              <a:t>売れ残りそうな商品を</a:t>
            </a:r>
            <a:endParaRPr lang="en-US" sz="1400" dirty="0"/>
          </a:p>
          <a:p>
            <a:pPr algn="ctr" indent="0" marL="0">
              <a:buNone/>
            </a:pPr>
            <a:r>
              <a:rPr lang="en-US" sz="1400" dirty="0">
                <a:solidFill>
                  <a:srgbClr val="666666"/>
                </a:solidFill>
                <a:latin typeface="Yu Gothic UI" pitchFamily="34" charset="0"/>
                <a:ea typeface="Yu Gothic UI" pitchFamily="34" charset="-122"/>
                <a:cs typeface="Yu Gothic UI" pitchFamily="34" charset="-120"/>
              </a:rPr>
              <a:t>アプリで出品</a:t>
            </a:r>
            <a:endParaRPr lang="en-US" sz="1400" dirty="0"/>
          </a:p>
        </p:txBody>
      </p:sp>
      <p:sp>
        <p:nvSpPr>
          <p:cNvPr id="9" name="Shape 7"/>
          <p:cNvSpPr/>
          <p:nvPr/>
        </p:nvSpPr>
        <p:spPr>
          <a:xfrm>
            <a:off x="4389120" y="2194560"/>
            <a:ext cx="3566160" cy="3840480"/>
          </a:xfrm>
          <a:prstGeom prst="roundRect">
            <a:avLst>
              <a:gd name="adj" fmla="val 3846"/>
            </a:avLst>
          </a:prstGeom>
          <a:solidFill>
            <a:srgbClr val="FFF1EE"/>
          </a:solidFill>
          <a:ln w="12700">
            <a:solidFill>
              <a:srgbClr val="FFF1EE"/>
            </a:solidFill>
            <a:prstDash val="solid"/>
          </a:ln>
        </p:spPr>
      </p:sp>
      <p:sp>
        <p:nvSpPr>
          <p:cNvPr id="10" name="Text 8"/>
          <p:cNvSpPr/>
          <p:nvPr/>
        </p:nvSpPr>
        <p:spPr>
          <a:xfrm>
            <a:off x="4572000" y="2286000"/>
            <a:ext cx="1828800" cy="548640"/>
          </a:xfrm>
          <a:prstGeom prst="rect">
            <a:avLst/>
          </a:prstGeom>
          <a:noFill/>
          <a:ln/>
        </p:spPr>
        <p:txBody>
          <a:bodyPr wrap="square" rtlCol="0" anchor="ctr"/>
          <a:lstStyle/>
          <a:p>
            <a:pPr indent="0" marL="0">
              <a:buNone/>
            </a:pPr>
            <a:r>
              <a:rPr lang="en-US" sz="3600" b="1" dirty="0">
                <a:solidFill>
                  <a:srgbClr val="E8786C"/>
                </a:solidFill>
                <a:latin typeface="Yu Gothic UI" pitchFamily="34" charset="0"/>
                <a:ea typeface="Yu Gothic UI" pitchFamily="34" charset="-122"/>
                <a:cs typeface="Yu Gothic UI" pitchFamily="34" charset="-120"/>
              </a:rPr>
              <a:t>02</a:t>
            </a:r>
            <a:endParaRPr lang="en-US" sz="3600" dirty="0"/>
          </a:p>
        </p:txBody>
      </p:sp>
      <p:sp>
        <p:nvSpPr>
          <p:cNvPr id="11" name="Text 9"/>
          <p:cNvSpPr/>
          <p:nvPr/>
        </p:nvSpPr>
        <p:spPr>
          <a:xfrm>
            <a:off x="4389120" y="3017520"/>
            <a:ext cx="356616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12" name="Text 10"/>
          <p:cNvSpPr/>
          <p:nvPr/>
        </p:nvSpPr>
        <p:spPr>
          <a:xfrm>
            <a:off x="4389120" y="4297680"/>
            <a:ext cx="3566160" cy="548640"/>
          </a:xfrm>
          <a:prstGeom prst="rect">
            <a:avLst/>
          </a:prstGeom>
          <a:noFill/>
          <a:ln/>
        </p:spPr>
        <p:txBody>
          <a:bodyPr wrap="square" rtlCol="0" anchor="ctr"/>
          <a:lstStyle/>
          <a:p>
            <a:pPr algn="ctr" indent="0" marL="0">
              <a:buNone/>
            </a:pPr>
            <a:r>
              <a:rPr lang="en-US" sz="2400" b="1" dirty="0">
                <a:solidFill>
                  <a:srgbClr val="2B2B2B"/>
                </a:solidFill>
                <a:latin typeface="Yu Gothic UI" pitchFamily="34" charset="0"/>
                <a:ea typeface="Yu Gothic UI" pitchFamily="34" charset="-122"/>
                <a:cs typeface="Yu Gothic UI" pitchFamily="34" charset="-120"/>
              </a:rPr>
              <a:t>お客様が購入する</a:t>
            </a:r>
            <a:endParaRPr lang="en-US" sz="2400" dirty="0"/>
          </a:p>
        </p:txBody>
      </p:sp>
      <p:sp>
        <p:nvSpPr>
          <p:cNvPr id="13" name="Text 11"/>
          <p:cNvSpPr/>
          <p:nvPr/>
        </p:nvSpPr>
        <p:spPr>
          <a:xfrm>
            <a:off x="4572000" y="4937760"/>
            <a:ext cx="3200400" cy="1005840"/>
          </a:xfrm>
          <a:prstGeom prst="rect">
            <a:avLst/>
          </a:prstGeom>
          <a:noFill/>
          <a:ln/>
        </p:spPr>
        <p:txBody>
          <a:bodyPr wrap="square" rtlCol="0" anchor="ctr"/>
          <a:lstStyle/>
          <a:p>
            <a:pPr algn="ctr" indent="0" marL="0">
              <a:buNone/>
            </a:pPr>
            <a:r>
              <a:rPr lang="en-US" sz="1400" dirty="0">
                <a:solidFill>
                  <a:srgbClr val="666666"/>
                </a:solidFill>
                <a:latin typeface="Yu Gothic UI" pitchFamily="34" charset="0"/>
                <a:ea typeface="Yu Gothic UI" pitchFamily="34" charset="-122"/>
                <a:cs typeface="Yu Gothic UI" pitchFamily="34" charset="-120"/>
              </a:rPr>
              <a:t>特別価格でアプリから</a:t>
            </a:r>
            <a:endParaRPr lang="en-US" sz="1400" dirty="0"/>
          </a:p>
          <a:p>
            <a:pPr algn="ctr" indent="0" marL="0">
              <a:buNone/>
            </a:pPr>
            <a:r>
              <a:rPr lang="en-US" sz="1400" dirty="0">
                <a:solidFill>
                  <a:srgbClr val="666666"/>
                </a:solidFill>
                <a:latin typeface="Yu Gothic UI" pitchFamily="34" charset="0"/>
                <a:ea typeface="Yu Gothic UI" pitchFamily="34" charset="-122"/>
                <a:cs typeface="Yu Gothic UI" pitchFamily="34" charset="-120"/>
              </a:rPr>
              <a:t>簡単に購入</a:t>
            </a:r>
            <a:endParaRPr lang="en-US" sz="1400" dirty="0"/>
          </a:p>
        </p:txBody>
      </p:sp>
      <p:sp>
        <p:nvSpPr>
          <p:cNvPr id="14" name="Shape 12"/>
          <p:cNvSpPr/>
          <p:nvPr/>
        </p:nvSpPr>
        <p:spPr>
          <a:xfrm>
            <a:off x="8229600" y="2194560"/>
            <a:ext cx="3566160" cy="3840480"/>
          </a:xfrm>
          <a:prstGeom prst="roundRect">
            <a:avLst>
              <a:gd name="adj" fmla="val 3846"/>
            </a:avLst>
          </a:prstGeom>
          <a:solidFill>
            <a:srgbClr val="FFF1EE"/>
          </a:solidFill>
          <a:ln w="12700">
            <a:solidFill>
              <a:srgbClr val="FFF1EE"/>
            </a:solidFill>
            <a:prstDash val="solid"/>
          </a:ln>
        </p:spPr>
      </p:sp>
      <p:sp>
        <p:nvSpPr>
          <p:cNvPr id="15" name="Text 13"/>
          <p:cNvSpPr/>
          <p:nvPr/>
        </p:nvSpPr>
        <p:spPr>
          <a:xfrm>
            <a:off x="8412480" y="2286000"/>
            <a:ext cx="1828800" cy="548640"/>
          </a:xfrm>
          <a:prstGeom prst="rect">
            <a:avLst/>
          </a:prstGeom>
          <a:noFill/>
          <a:ln/>
        </p:spPr>
        <p:txBody>
          <a:bodyPr wrap="square" rtlCol="0" anchor="ctr"/>
          <a:lstStyle/>
          <a:p>
            <a:pPr indent="0" marL="0">
              <a:buNone/>
            </a:pPr>
            <a:r>
              <a:rPr lang="en-US" sz="3600" b="1" dirty="0">
                <a:solidFill>
                  <a:srgbClr val="E8786C"/>
                </a:solidFill>
                <a:latin typeface="Yu Gothic UI" pitchFamily="34" charset="0"/>
                <a:ea typeface="Yu Gothic UI" pitchFamily="34" charset="-122"/>
                <a:cs typeface="Yu Gothic UI" pitchFamily="34" charset="-120"/>
              </a:rPr>
              <a:t>03</a:t>
            </a:r>
            <a:endParaRPr lang="en-US" sz="3600" dirty="0"/>
          </a:p>
        </p:txBody>
      </p:sp>
      <p:sp>
        <p:nvSpPr>
          <p:cNvPr id="16" name="Text 14"/>
          <p:cNvSpPr/>
          <p:nvPr/>
        </p:nvSpPr>
        <p:spPr>
          <a:xfrm>
            <a:off x="8229600" y="3017520"/>
            <a:ext cx="356616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17" name="Text 15"/>
          <p:cNvSpPr/>
          <p:nvPr/>
        </p:nvSpPr>
        <p:spPr>
          <a:xfrm>
            <a:off x="8229600" y="4297680"/>
            <a:ext cx="3566160" cy="548640"/>
          </a:xfrm>
          <a:prstGeom prst="rect">
            <a:avLst/>
          </a:prstGeom>
          <a:noFill/>
          <a:ln/>
        </p:spPr>
        <p:txBody>
          <a:bodyPr wrap="square" rtlCol="0" anchor="ctr"/>
          <a:lstStyle/>
          <a:p>
            <a:pPr algn="ctr" indent="0" marL="0">
              <a:buNone/>
            </a:pPr>
            <a:r>
              <a:rPr lang="en-US" sz="2400" b="1" dirty="0">
                <a:solidFill>
                  <a:srgbClr val="2B2B2B"/>
                </a:solidFill>
                <a:latin typeface="Yu Gothic UI" pitchFamily="34" charset="0"/>
                <a:ea typeface="Yu Gothic UI" pitchFamily="34" charset="-122"/>
                <a:cs typeface="Yu Gothic UI" pitchFamily="34" charset="-120"/>
              </a:rPr>
              <a:t>受け取る</a:t>
            </a:r>
            <a:endParaRPr lang="en-US" sz="2400" dirty="0"/>
          </a:p>
        </p:txBody>
      </p:sp>
      <p:sp>
        <p:nvSpPr>
          <p:cNvPr id="18" name="Text 16"/>
          <p:cNvSpPr/>
          <p:nvPr/>
        </p:nvSpPr>
        <p:spPr>
          <a:xfrm>
            <a:off x="8412480" y="4937760"/>
            <a:ext cx="3200400" cy="1005840"/>
          </a:xfrm>
          <a:prstGeom prst="rect">
            <a:avLst/>
          </a:prstGeom>
          <a:noFill/>
          <a:ln/>
        </p:spPr>
        <p:txBody>
          <a:bodyPr wrap="square" rtlCol="0" anchor="ctr"/>
          <a:lstStyle/>
          <a:p>
            <a:pPr algn="ctr" indent="0" marL="0">
              <a:buNone/>
            </a:pPr>
            <a:r>
              <a:rPr lang="en-US" sz="1400" dirty="0">
                <a:solidFill>
                  <a:srgbClr val="666666"/>
                </a:solidFill>
                <a:latin typeface="Yu Gothic UI" pitchFamily="34" charset="0"/>
                <a:ea typeface="Yu Gothic UI" pitchFamily="34" charset="-122"/>
                <a:cs typeface="Yu Gothic UI" pitchFamily="34" charset="-120"/>
              </a:rPr>
              <a:t>指定時間にお店へ</a:t>
            </a:r>
            <a:endParaRPr lang="en-US" sz="1400" dirty="0"/>
          </a:p>
          <a:p>
            <a:pPr algn="ctr" indent="0" marL="0">
              <a:buNone/>
            </a:pPr>
            <a:r>
              <a:rPr lang="en-US" sz="1400" dirty="0">
                <a:solidFill>
                  <a:srgbClr val="666666"/>
                </a:solidFill>
                <a:latin typeface="Yu Gothic UI" pitchFamily="34" charset="0"/>
                <a:ea typeface="Yu Gothic UI" pitchFamily="34" charset="-122"/>
                <a:cs typeface="Yu Gothic UI" pitchFamily="34" charset="-120"/>
              </a:rPr>
              <a:t>ピックアップ</a:t>
            </a:r>
            <a:endParaRPr lang="en-US" sz="1400" dirty="0"/>
          </a:p>
        </p:txBody>
      </p:sp>
      <p:sp>
        <p:nvSpPr>
          <p:cNvPr id="19"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実際のアプリ画面</a:t>
            </a:r>
            <a:endParaRPr lang="en-US" sz="3000" dirty="0"/>
          </a:p>
        </p:txBody>
      </p:sp>
      <p:sp>
        <p:nvSpPr>
          <p:cNvPr id="4" name="Shape 2"/>
          <p:cNvSpPr/>
          <p:nvPr/>
        </p:nvSpPr>
        <p:spPr>
          <a:xfrm>
            <a:off x="1623929" y="1627632"/>
            <a:ext cx="1964223" cy="4059936"/>
          </a:xfrm>
          <a:prstGeom prst="roundRect">
            <a:avLst>
              <a:gd name="adj" fmla="val 3724"/>
            </a:avLst>
          </a:prstGeom>
          <a:solidFill>
            <a:srgbClr val="FFFFFF"/>
          </a:solidFill>
          <a:ln w="12700">
            <a:solidFill>
              <a:srgbClr val="DDDDDD"/>
            </a:solidFill>
            <a:prstDash val="solid"/>
          </a:ln>
        </p:spPr>
      </p:sp>
      <p:pic>
        <p:nvPicPr>
          <p:cNvPr id="5" name="Image 0" descr="C:\Users\kusao\OneDrive\画像\スクリーンショット\LINE_ALBUM_20260719 _2_260719_1.jpg">    </p:cNvPr>
          <p:cNvPicPr>
            <a:picLocks noChangeAspect="1"/>
          </p:cNvPicPr>
          <p:nvPr/>
        </p:nvPicPr>
        <p:blipFill>
          <a:blip r:embed="rId1"/>
          <a:stretch>
            <a:fillRect/>
          </a:stretch>
        </p:blipFill>
        <p:spPr>
          <a:xfrm>
            <a:off x="1687937" y="1691640"/>
            <a:ext cx="1836207" cy="3931920"/>
          </a:xfrm>
          <a:prstGeom prst="rect">
            <a:avLst/>
          </a:prstGeom>
        </p:spPr>
      </p:pic>
      <p:sp>
        <p:nvSpPr>
          <p:cNvPr id="6" name="Shape 3"/>
          <p:cNvSpPr/>
          <p:nvPr/>
        </p:nvSpPr>
        <p:spPr>
          <a:xfrm>
            <a:off x="1188720" y="5897880"/>
            <a:ext cx="548640" cy="548640"/>
          </a:xfrm>
          <a:prstGeom prst="ellipse">
            <a:avLst/>
          </a:prstGeom>
          <a:solidFill>
            <a:srgbClr val="E8786C"/>
          </a:solidFill>
          <a:ln w="12700">
            <a:solidFill>
              <a:srgbClr val="E8786C"/>
            </a:solidFill>
            <a:prstDash val="solid"/>
          </a:ln>
        </p:spPr>
      </p:sp>
      <p:sp>
        <p:nvSpPr>
          <p:cNvPr id="7" name="Text 4"/>
          <p:cNvSpPr/>
          <p:nvPr/>
        </p:nvSpPr>
        <p:spPr>
          <a:xfrm>
            <a:off x="1188720" y="5897880"/>
            <a:ext cx="548640" cy="54864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01</a:t>
            </a:r>
            <a:endParaRPr lang="en-US" sz="1700" dirty="0"/>
          </a:p>
        </p:txBody>
      </p:sp>
      <p:sp>
        <p:nvSpPr>
          <p:cNvPr id="8" name="Text 5"/>
          <p:cNvSpPr/>
          <p:nvPr/>
        </p:nvSpPr>
        <p:spPr>
          <a:xfrm>
            <a:off x="1874520" y="5852160"/>
            <a:ext cx="2103120" cy="365760"/>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さがす</a:t>
            </a:r>
            <a:endParaRPr lang="en-US" sz="1600" dirty="0"/>
          </a:p>
        </p:txBody>
      </p:sp>
      <p:sp>
        <p:nvSpPr>
          <p:cNvPr id="9" name="Text 6"/>
          <p:cNvSpPr/>
          <p:nvPr/>
        </p:nvSpPr>
        <p:spPr>
          <a:xfrm>
            <a:off x="1874520" y="6199632"/>
            <a:ext cx="2103120" cy="274320"/>
          </a:xfrm>
          <a:prstGeom prst="rect">
            <a:avLst/>
          </a:prstGeom>
          <a:noFill/>
          <a:ln/>
        </p:spPr>
        <p:txBody>
          <a:bodyPr wrap="square" rtlCol="0" anchor="ctr"/>
          <a:lstStyle/>
          <a:p>
            <a:pPr indent="0" marL="0">
              <a:buNone/>
            </a:pPr>
            <a:r>
              <a:rPr lang="en-US" sz="1000" dirty="0">
                <a:solidFill>
                  <a:srgbClr val="666666"/>
                </a:solidFill>
                <a:latin typeface="Yu Gothic UI" pitchFamily="34" charset="0"/>
                <a:ea typeface="Yu Gothic UI" pitchFamily="34" charset="-122"/>
                <a:cs typeface="Yu Gothic UI" pitchFamily="34" charset="-120"/>
              </a:rPr>
              <a:t>近くの出品を一覧で</a:t>
            </a:r>
            <a:endParaRPr lang="en-US" sz="1000" dirty="0"/>
          </a:p>
        </p:txBody>
      </p:sp>
      <p:sp>
        <p:nvSpPr>
          <p:cNvPr id="10" name="Shape 7"/>
          <p:cNvSpPr/>
          <p:nvPr/>
        </p:nvSpPr>
        <p:spPr>
          <a:xfrm>
            <a:off x="5103175" y="1627632"/>
            <a:ext cx="1991746" cy="4059936"/>
          </a:xfrm>
          <a:prstGeom prst="roundRect">
            <a:avLst>
              <a:gd name="adj" fmla="val 3673"/>
            </a:avLst>
          </a:prstGeom>
          <a:solidFill>
            <a:srgbClr val="FFFFFF"/>
          </a:solidFill>
          <a:ln w="12700">
            <a:solidFill>
              <a:srgbClr val="DDDDDD"/>
            </a:solidFill>
            <a:prstDash val="solid"/>
          </a:ln>
        </p:spPr>
      </p:sp>
      <p:pic>
        <p:nvPicPr>
          <p:cNvPr id="11" name="Image 1" descr="C:\Users\kusao\OneDrive\画像\スクリーンショット\LINE_ALBUM_20260719 _2_260719_2.jpg">    </p:cNvPr>
          <p:cNvPicPr>
            <a:picLocks noChangeAspect="1"/>
          </p:cNvPicPr>
          <p:nvPr/>
        </p:nvPicPr>
        <p:blipFill>
          <a:blip r:embed="rId2"/>
          <a:stretch>
            <a:fillRect/>
          </a:stretch>
        </p:blipFill>
        <p:spPr>
          <a:xfrm>
            <a:off x="5167183" y="1691640"/>
            <a:ext cx="1863730" cy="3931920"/>
          </a:xfrm>
          <a:prstGeom prst="rect">
            <a:avLst/>
          </a:prstGeom>
        </p:spPr>
      </p:pic>
      <p:sp>
        <p:nvSpPr>
          <p:cNvPr id="12" name="Shape 8"/>
          <p:cNvSpPr/>
          <p:nvPr/>
        </p:nvSpPr>
        <p:spPr>
          <a:xfrm>
            <a:off x="4681728" y="5897880"/>
            <a:ext cx="548640" cy="548640"/>
          </a:xfrm>
          <a:prstGeom prst="ellipse">
            <a:avLst/>
          </a:prstGeom>
          <a:solidFill>
            <a:srgbClr val="E8786C"/>
          </a:solidFill>
          <a:ln w="12700">
            <a:solidFill>
              <a:srgbClr val="E8786C"/>
            </a:solidFill>
            <a:prstDash val="solid"/>
          </a:ln>
        </p:spPr>
      </p:sp>
      <p:sp>
        <p:nvSpPr>
          <p:cNvPr id="13" name="Text 9"/>
          <p:cNvSpPr/>
          <p:nvPr/>
        </p:nvSpPr>
        <p:spPr>
          <a:xfrm>
            <a:off x="4681728" y="5897880"/>
            <a:ext cx="548640" cy="54864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02</a:t>
            </a:r>
            <a:endParaRPr lang="en-US" sz="1700" dirty="0"/>
          </a:p>
        </p:txBody>
      </p:sp>
      <p:sp>
        <p:nvSpPr>
          <p:cNvPr id="14" name="Text 10"/>
          <p:cNvSpPr/>
          <p:nvPr/>
        </p:nvSpPr>
        <p:spPr>
          <a:xfrm>
            <a:off x="5367528" y="5852160"/>
            <a:ext cx="2103120" cy="365760"/>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えらぶ</a:t>
            </a:r>
            <a:endParaRPr lang="en-US" sz="1600" dirty="0"/>
          </a:p>
        </p:txBody>
      </p:sp>
      <p:sp>
        <p:nvSpPr>
          <p:cNvPr id="15" name="Text 11"/>
          <p:cNvSpPr/>
          <p:nvPr/>
        </p:nvSpPr>
        <p:spPr>
          <a:xfrm>
            <a:off x="5367528" y="6199632"/>
            <a:ext cx="2103120" cy="274320"/>
          </a:xfrm>
          <a:prstGeom prst="rect">
            <a:avLst/>
          </a:prstGeom>
          <a:noFill/>
          <a:ln/>
        </p:spPr>
        <p:txBody>
          <a:bodyPr wrap="square" rtlCol="0" anchor="ctr"/>
          <a:lstStyle/>
          <a:p>
            <a:pPr indent="0" marL="0">
              <a:buNone/>
            </a:pPr>
            <a:r>
              <a:rPr lang="en-US" sz="1000" dirty="0">
                <a:solidFill>
                  <a:srgbClr val="666666"/>
                </a:solidFill>
                <a:latin typeface="Yu Gothic UI" pitchFamily="34" charset="0"/>
                <a:ea typeface="Yu Gothic UI" pitchFamily="34" charset="-122"/>
                <a:cs typeface="Yu Gothic UI" pitchFamily="34" charset="-120"/>
              </a:rPr>
              <a:t>残り個数・受取時間を確認</a:t>
            </a:r>
            <a:endParaRPr lang="en-US" sz="1000" dirty="0"/>
          </a:p>
        </p:txBody>
      </p:sp>
      <p:sp>
        <p:nvSpPr>
          <p:cNvPr id="16" name="Shape 12"/>
          <p:cNvSpPr/>
          <p:nvPr/>
        </p:nvSpPr>
        <p:spPr>
          <a:xfrm>
            <a:off x="8617809" y="1627632"/>
            <a:ext cx="1948495" cy="4059936"/>
          </a:xfrm>
          <a:prstGeom prst="roundRect">
            <a:avLst>
              <a:gd name="adj" fmla="val 3754"/>
            </a:avLst>
          </a:prstGeom>
          <a:solidFill>
            <a:srgbClr val="FFFFFF"/>
          </a:solidFill>
          <a:ln w="12700">
            <a:solidFill>
              <a:srgbClr val="DDDDDD"/>
            </a:solidFill>
            <a:prstDash val="solid"/>
          </a:ln>
        </p:spPr>
      </p:sp>
      <p:pic>
        <p:nvPicPr>
          <p:cNvPr id="17" name="Image 2" descr="C:\Users\kusao\OneDrive\画像\スクリーンショット\LINE_ALBUM_20260719 _2_260719_3.jpg">    </p:cNvPr>
          <p:cNvPicPr>
            <a:picLocks noChangeAspect="1"/>
          </p:cNvPicPr>
          <p:nvPr/>
        </p:nvPicPr>
        <p:blipFill>
          <a:blip r:embed="rId3"/>
          <a:stretch>
            <a:fillRect/>
          </a:stretch>
        </p:blipFill>
        <p:spPr>
          <a:xfrm>
            <a:off x="8681817" y="1691640"/>
            <a:ext cx="1820479" cy="3931920"/>
          </a:xfrm>
          <a:prstGeom prst="rect">
            <a:avLst/>
          </a:prstGeom>
        </p:spPr>
      </p:pic>
      <p:sp>
        <p:nvSpPr>
          <p:cNvPr id="18" name="Shape 13"/>
          <p:cNvSpPr/>
          <p:nvPr/>
        </p:nvSpPr>
        <p:spPr>
          <a:xfrm>
            <a:off x="8174736" y="5897880"/>
            <a:ext cx="548640" cy="548640"/>
          </a:xfrm>
          <a:prstGeom prst="ellipse">
            <a:avLst/>
          </a:prstGeom>
          <a:solidFill>
            <a:srgbClr val="E8786C"/>
          </a:solidFill>
          <a:ln w="12700">
            <a:solidFill>
              <a:srgbClr val="E8786C"/>
            </a:solidFill>
            <a:prstDash val="solid"/>
          </a:ln>
        </p:spPr>
      </p:sp>
      <p:sp>
        <p:nvSpPr>
          <p:cNvPr id="19" name="Text 14"/>
          <p:cNvSpPr/>
          <p:nvPr/>
        </p:nvSpPr>
        <p:spPr>
          <a:xfrm>
            <a:off x="8174736" y="5897880"/>
            <a:ext cx="548640" cy="54864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03</a:t>
            </a:r>
            <a:endParaRPr lang="en-US" sz="1700" dirty="0"/>
          </a:p>
        </p:txBody>
      </p:sp>
      <p:sp>
        <p:nvSpPr>
          <p:cNvPr id="20" name="Text 15"/>
          <p:cNvSpPr/>
          <p:nvPr/>
        </p:nvSpPr>
        <p:spPr>
          <a:xfrm>
            <a:off x="8860536" y="5852160"/>
            <a:ext cx="2103120" cy="365760"/>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受け取る</a:t>
            </a:r>
            <a:endParaRPr lang="en-US" sz="1600" dirty="0"/>
          </a:p>
        </p:txBody>
      </p:sp>
      <p:sp>
        <p:nvSpPr>
          <p:cNvPr id="21" name="Text 16"/>
          <p:cNvSpPr/>
          <p:nvPr/>
        </p:nvSpPr>
        <p:spPr>
          <a:xfrm>
            <a:off x="8860536" y="6199632"/>
            <a:ext cx="2103120" cy="274320"/>
          </a:xfrm>
          <a:prstGeom prst="rect">
            <a:avLst/>
          </a:prstGeom>
          <a:noFill/>
          <a:ln/>
        </p:spPr>
        <p:txBody>
          <a:bodyPr wrap="square" rtlCol="0" anchor="ctr"/>
          <a:lstStyle/>
          <a:p>
            <a:pPr indent="0" marL="0">
              <a:buNone/>
            </a:pPr>
            <a:r>
              <a:rPr lang="en-US" sz="1000" dirty="0">
                <a:solidFill>
                  <a:srgbClr val="666666"/>
                </a:solidFill>
                <a:latin typeface="Yu Gothic UI" pitchFamily="34" charset="0"/>
                <a:ea typeface="Yu Gothic UI" pitchFamily="34" charset="-122"/>
                <a:cs typeface="Yu Gothic UI" pitchFamily="34" charset="-120"/>
              </a:rPr>
              <a:t>6桁コードで受取完了</a:t>
            </a:r>
            <a:endParaRPr lang="en-US" sz="1000" dirty="0"/>
          </a:p>
        </p:txBody>
      </p:sp>
      <p:sp>
        <p:nvSpPr>
          <p:cNvPr id="22"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3FA535"/>
          </a:solidFill>
          <a:ln w="12700">
            <a:solidFill>
              <a:srgbClr val="3FA535"/>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高槻市のご負担は、一切ありません。</a:t>
            </a:r>
            <a:endParaRPr lang="en-US" sz="3000" dirty="0"/>
          </a:p>
        </p:txBody>
      </p:sp>
      <p:sp>
        <p:nvSpPr>
          <p:cNvPr id="4" name="Shape 2"/>
          <p:cNvSpPr/>
          <p:nvPr/>
        </p:nvSpPr>
        <p:spPr>
          <a:xfrm>
            <a:off x="548640" y="1783080"/>
            <a:ext cx="5394960" cy="3383280"/>
          </a:xfrm>
          <a:prstGeom prst="roundRect">
            <a:avLst>
              <a:gd name="adj" fmla="val 4054"/>
            </a:avLst>
          </a:prstGeom>
          <a:solidFill>
            <a:srgbClr val="FFFFFF"/>
          </a:solidFill>
          <a:ln w="25400">
            <a:solidFill>
              <a:srgbClr val="3FA535"/>
            </a:solidFill>
            <a:prstDash val="solid"/>
          </a:ln>
        </p:spPr>
      </p:sp>
      <p:sp>
        <p:nvSpPr>
          <p:cNvPr id="5" name="Shape 3"/>
          <p:cNvSpPr/>
          <p:nvPr/>
        </p:nvSpPr>
        <p:spPr>
          <a:xfrm>
            <a:off x="548640" y="1783080"/>
            <a:ext cx="5394960" cy="594360"/>
          </a:xfrm>
          <a:prstGeom prst="rect">
            <a:avLst/>
          </a:prstGeom>
          <a:solidFill>
            <a:srgbClr val="3FA535"/>
          </a:solidFill>
          <a:ln w="12700">
            <a:solidFill>
              <a:srgbClr val="3FA535"/>
            </a:solidFill>
            <a:prstDash val="solid"/>
          </a:ln>
        </p:spPr>
      </p:sp>
      <p:sp>
        <p:nvSpPr>
          <p:cNvPr id="6" name="Text 4"/>
          <p:cNvSpPr/>
          <p:nvPr/>
        </p:nvSpPr>
        <p:spPr>
          <a:xfrm>
            <a:off x="548640" y="1783080"/>
            <a:ext cx="5394960" cy="594360"/>
          </a:xfrm>
          <a:prstGeom prst="rect">
            <a:avLst/>
          </a:prstGeom>
          <a:noFill/>
          <a:ln/>
        </p:spPr>
        <p:txBody>
          <a:bodyPr wrap="square" rtlCol="0" anchor="ctr"/>
          <a:lstStyle/>
          <a:p>
            <a:pPr algn="ctr" indent="0" marL="0">
              <a:buNone/>
            </a:pPr>
            <a:r>
              <a:rPr lang="en-US" sz="1900" b="1" dirty="0">
                <a:solidFill>
                  <a:srgbClr val="FFFFFF"/>
                </a:solidFill>
                <a:latin typeface="Yu Gothic UI" pitchFamily="34" charset="0"/>
                <a:ea typeface="Yu Gothic UI" pitchFamily="34" charset="-122"/>
                <a:cs typeface="Yu Gothic UI" pitchFamily="34" charset="-120"/>
              </a:rPr>
              <a:t>お店</a:t>
            </a:r>
            <a:endParaRPr lang="en-US" sz="1900" dirty="0"/>
          </a:p>
        </p:txBody>
      </p:sp>
      <p:sp>
        <p:nvSpPr>
          <p:cNvPr id="7" name="Text 5"/>
          <p:cNvSpPr/>
          <p:nvPr/>
        </p:nvSpPr>
        <p:spPr>
          <a:xfrm>
            <a:off x="822960" y="2514600"/>
            <a:ext cx="2011680" cy="777240"/>
          </a:xfrm>
          <a:prstGeom prst="rect">
            <a:avLst/>
          </a:prstGeom>
          <a:noFill/>
          <a:ln/>
        </p:spPr>
        <p:txBody>
          <a:bodyPr wrap="square" rtlCol="0" anchor="ctr"/>
          <a:lstStyle/>
          <a:p>
            <a:pPr algn="ctr" indent="0" marL="0">
              <a:buNone/>
            </a:pPr>
            <a:r>
              <a:rPr lang="en-US" sz="4200" b="1" dirty="0">
                <a:solidFill>
                  <a:srgbClr val="3FA535"/>
                </a:solidFill>
                <a:latin typeface="Yu Gothic UI" pitchFamily="34" charset="0"/>
                <a:ea typeface="Yu Gothic UI" pitchFamily="34" charset="-122"/>
                <a:cs typeface="Yu Gothic UI" pitchFamily="34" charset="-120"/>
              </a:rPr>
              <a:t>¥0</a:t>
            </a:r>
            <a:endParaRPr lang="en-US" sz="4200" dirty="0"/>
          </a:p>
        </p:txBody>
      </p:sp>
      <p:sp>
        <p:nvSpPr>
          <p:cNvPr id="8" name="Text 6"/>
          <p:cNvSpPr/>
          <p:nvPr/>
        </p:nvSpPr>
        <p:spPr>
          <a:xfrm>
            <a:off x="2834640" y="2514600"/>
            <a:ext cx="3017520" cy="7772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初期費用</a:t>
            </a:r>
            <a:endParaRPr lang="en-US" sz="1500" dirty="0"/>
          </a:p>
        </p:txBody>
      </p:sp>
      <p:sp>
        <p:nvSpPr>
          <p:cNvPr id="9" name="Text 7"/>
          <p:cNvSpPr/>
          <p:nvPr/>
        </p:nvSpPr>
        <p:spPr>
          <a:xfrm>
            <a:off x="822960" y="3355848"/>
            <a:ext cx="2011680" cy="777240"/>
          </a:xfrm>
          <a:prstGeom prst="rect">
            <a:avLst/>
          </a:prstGeom>
          <a:noFill/>
          <a:ln/>
        </p:spPr>
        <p:txBody>
          <a:bodyPr wrap="square" rtlCol="0" anchor="ctr"/>
          <a:lstStyle/>
          <a:p>
            <a:pPr algn="ctr" indent="0" marL="0">
              <a:buNone/>
            </a:pPr>
            <a:r>
              <a:rPr lang="en-US" sz="4200" b="1" dirty="0">
                <a:solidFill>
                  <a:srgbClr val="3FA535"/>
                </a:solidFill>
                <a:latin typeface="Yu Gothic UI" pitchFamily="34" charset="0"/>
                <a:ea typeface="Yu Gothic UI" pitchFamily="34" charset="-122"/>
                <a:cs typeface="Yu Gothic UI" pitchFamily="34" charset="-120"/>
              </a:rPr>
              <a:t>¥0</a:t>
            </a:r>
            <a:endParaRPr lang="en-US" sz="4200" dirty="0"/>
          </a:p>
        </p:txBody>
      </p:sp>
      <p:sp>
        <p:nvSpPr>
          <p:cNvPr id="10" name="Text 8"/>
          <p:cNvSpPr/>
          <p:nvPr/>
        </p:nvSpPr>
        <p:spPr>
          <a:xfrm>
            <a:off x="2834640" y="3355848"/>
            <a:ext cx="3017520" cy="7772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月額固定費</a:t>
            </a:r>
            <a:endParaRPr lang="en-US" sz="1500" dirty="0"/>
          </a:p>
        </p:txBody>
      </p:sp>
      <p:sp>
        <p:nvSpPr>
          <p:cNvPr id="11" name="Text 9"/>
          <p:cNvSpPr/>
          <p:nvPr/>
        </p:nvSpPr>
        <p:spPr>
          <a:xfrm>
            <a:off x="822960" y="4197096"/>
            <a:ext cx="2011680" cy="777240"/>
          </a:xfrm>
          <a:prstGeom prst="rect">
            <a:avLst/>
          </a:prstGeom>
          <a:noFill/>
          <a:ln/>
        </p:spPr>
        <p:txBody>
          <a:bodyPr wrap="square" rtlCol="0" anchor="ctr"/>
          <a:lstStyle/>
          <a:p>
            <a:pPr algn="ctr" indent="0" marL="0">
              <a:buNone/>
            </a:pPr>
            <a:r>
              <a:rPr lang="en-US" sz="2600" b="1" dirty="0">
                <a:solidFill>
                  <a:srgbClr val="666666"/>
                </a:solidFill>
                <a:latin typeface="Yu Gothic UI" pitchFamily="34" charset="0"/>
                <a:ea typeface="Yu Gothic UI" pitchFamily="34" charset="-122"/>
                <a:cs typeface="Yu Gothic UI" pitchFamily="34" charset="-120"/>
              </a:rPr>
              <a:t>25%</a:t>
            </a:r>
            <a:endParaRPr lang="en-US" sz="2600" dirty="0"/>
          </a:p>
        </p:txBody>
      </p:sp>
      <p:sp>
        <p:nvSpPr>
          <p:cNvPr id="12" name="Text 10"/>
          <p:cNvSpPr/>
          <p:nvPr/>
        </p:nvSpPr>
        <p:spPr>
          <a:xfrm>
            <a:off x="2834640" y="4197096"/>
            <a:ext cx="3017520" cy="777240"/>
          </a:xfrm>
          <a:prstGeom prst="rect">
            <a:avLst/>
          </a:prstGeom>
          <a:noFill/>
          <a:ln/>
        </p:spPr>
        <p:txBody>
          <a:bodyPr wrap="square" rtlCol="0" anchor="ctr"/>
          <a:lstStyle/>
          <a:p>
            <a:pPr indent="0" marL="0">
              <a:buNone/>
            </a:pPr>
            <a:r>
              <a:rPr lang="en-US" sz="1200" dirty="0">
                <a:solidFill>
                  <a:srgbClr val="666666"/>
                </a:solidFill>
                <a:latin typeface="Yu Gothic UI" pitchFamily="34" charset="0"/>
                <a:ea typeface="Yu Gothic UI" pitchFamily="34" charset="-122"/>
                <a:cs typeface="Yu Gothic UI" pitchFamily="34" charset="-120"/>
              </a:rPr>
              <a:t>売れた分だけの成果報酬</a:t>
            </a:r>
            <a:endParaRPr lang="en-US" sz="1200" dirty="0"/>
          </a:p>
        </p:txBody>
      </p:sp>
      <p:sp>
        <p:nvSpPr>
          <p:cNvPr id="13" name="Shape 11"/>
          <p:cNvSpPr/>
          <p:nvPr/>
        </p:nvSpPr>
        <p:spPr>
          <a:xfrm>
            <a:off x="6217920" y="1783080"/>
            <a:ext cx="5394960" cy="3383280"/>
          </a:xfrm>
          <a:prstGeom prst="roundRect">
            <a:avLst>
              <a:gd name="adj" fmla="val 4054"/>
            </a:avLst>
          </a:prstGeom>
          <a:solidFill>
            <a:srgbClr val="FFFFFF"/>
          </a:solidFill>
          <a:ln w="25400">
            <a:solidFill>
              <a:srgbClr val="E8786C"/>
            </a:solidFill>
            <a:prstDash val="solid"/>
          </a:ln>
        </p:spPr>
      </p:sp>
      <p:sp>
        <p:nvSpPr>
          <p:cNvPr id="14" name="Shape 12"/>
          <p:cNvSpPr/>
          <p:nvPr/>
        </p:nvSpPr>
        <p:spPr>
          <a:xfrm>
            <a:off x="6217920" y="1783080"/>
            <a:ext cx="5394960" cy="594360"/>
          </a:xfrm>
          <a:prstGeom prst="rect">
            <a:avLst/>
          </a:prstGeom>
          <a:solidFill>
            <a:srgbClr val="E8786C"/>
          </a:solidFill>
          <a:ln w="12700">
            <a:solidFill>
              <a:srgbClr val="E8786C"/>
            </a:solidFill>
            <a:prstDash val="solid"/>
          </a:ln>
        </p:spPr>
      </p:sp>
      <p:sp>
        <p:nvSpPr>
          <p:cNvPr id="15" name="Text 13"/>
          <p:cNvSpPr/>
          <p:nvPr/>
        </p:nvSpPr>
        <p:spPr>
          <a:xfrm>
            <a:off x="6217920" y="1783080"/>
            <a:ext cx="5394960" cy="594360"/>
          </a:xfrm>
          <a:prstGeom prst="rect">
            <a:avLst/>
          </a:prstGeom>
          <a:noFill/>
          <a:ln/>
        </p:spPr>
        <p:txBody>
          <a:bodyPr wrap="square" rtlCol="0" anchor="ctr"/>
          <a:lstStyle/>
          <a:p>
            <a:pPr algn="ctr" indent="0" marL="0">
              <a:buNone/>
            </a:pPr>
            <a:r>
              <a:rPr lang="en-US" sz="1900" b="1" dirty="0">
                <a:solidFill>
                  <a:srgbClr val="FFFFFF"/>
                </a:solidFill>
                <a:latin typeface="Yu Gothic UI" pitchFamily="34" charset="0"/>
                <a:ea typeface="Yu Gothic UI" pitchFamily="34" charset="-122"/>
                <a:cs typeface="Yu Gothic UI" pitchFamily="34" charset="-120"/>
              </a:rPr>
              <a:t>お客様</a:t>
            </a:r>
            <a:endParaRPr lang="en-US" sz="1900" dirty="0"/>
          </a:p>
        </p:txBody>
      </p:sp>
      <p:sp>
        <p:nvSpPr>
          <p:cNvPr id="16" name="Text 14"/>
          <p:cNvSpPr/>
          <p:nvPr/>
        </p:nvSpPr>
        <p:spPr>
          <a:xfrm>
            <a:off x="6492240" y="2651760"/>
            <a:ext cx="2286000" cy="1005840"/>
          </a:xfrm>
          <a:prstGeom prst="rect">
            <a:avLst/>
          </a:prstGeom>
          <a:noFill/>
          <a:ln/>
        </p:spPr>
        <p:txBody>
          <a:bodyPr wrap="square" rtlCol="0" anchor="ctr"/>
          <a:lstStyle/>
          <a:p>
            <a:pPr algn="ctr" indent="0" marL="0">
              <a:buNone/>
            </a:pPr>
            <a:r>
              <a:rPr lang="en-US" sz="4200" b="1" dirty="0">
                <a:solidFill>
                  <a:srgbClr val="3FA535"/>
                </a:solidFill>
                <a:latin typeface="Yu Gothic UI" pitchFamily="34" charset="0"/>
                <a:ea typeface="Yu Gothic UI" pitchFamily="34" charset="-122"/>
                <a:cs typeface="Yu Gothic UI" pitchFamily="34" charset="-120"/>
              </a:rPr>
              <a:t>¥0</a:t>
            </a:r>
            <a:endParaRPr lang="en-US" sz="4200" dirty="0"/>
          </a:p>
        </p:txBody>
      </p:sp>
      <p:sp>
        <p:nvSpPr>
          <p:cNvPr id="17" name="Text 15"/>
          <p:cNvSpPr/>
          <p:nvPr/>
        </p:nvSpPr>
        <p:spPr>
          <a:xfrm>
            <a:off x="8778240" y="2651760"/>
            <a:ext cx="2651760" cy="10058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アプリのダウンロード</a:t>
            </a:r>
            <a:endParaRPr lang="en-US" sz="1500" dirty="0"/>
          </a:p>
        </p:txBody>
      </p:sp>
      <p:sp>
        <p:nvSpPr>
          <p:cNvPr id="18" name="Text 16"/>
          <p:cNvSpPr/>
          <p:nvPr/>
        </p:nvSpPr>
        <p:spPr>
          <a:xfrm>
            <a:off x="6492240" y="3794760"/>
            <a:ext cx="2286000" cy="1005840"/>
          </a:xfrm>
          <a:prstGeom prst="rect">
            <a:avLst/>
          </a:prstGeom>
          <a:noFill/>
          <a:ln/>
        </p:spPr>
        <p:txBody>
          <a:bodyPr wrap="square" rtlCol="0" anchor="ctr"/>
          <a:lstStyle/>
          <a:p>
            <a:pPr algn="ctr" indent="0" marL="0">
              <a:buNone/>
            </a:pPr>
            <a:r>
              <a:rPr lang="en-US" sz="4200" b="1" dirty="0">
                <a:solidFill>
                  <a:srgbClr val="E8786C"/>
                </a:solidFill>
                <a:latin typeface="Yu Gothic UI" pitchFamily="34" charset="0"/>
                <a:ea typeface="Yu Gothic UI" pitchFamily="34" charset="-122"/>
                <a:cs typeface="Yu Gothic UI" pitchFamily="34" charset="-120"/>
              </a:rPr>
              <a:t>5%</a:t>
            </a:r>
            <a:endParaRPr lang="en-US" sz="4200" dirty="0"/>
          </a:p>
        </p:txBody>
      </p:sp>
      <p:sp>
        <p:nvSpPr>
          <p:cNvPr id="19" name="Text 17"/>
          <p:cNvSpPr/>
          <p:nvPr/>
        </p:nvSpPr>
        <p:spPr>
          <a:xfrm>
            <a:off x="8778240" y="3794760"/>
            <a:ext cx="2651760" cy="10058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購入時の手数料</a:t>
            </a:r>
            <a:endParaRPr lang="en-US" sz="1500" dirty="0"/>
          </a:p>
        </p:txBody>
      </p:sp>
      <p:sp>
        <p:nvSpPr>
          <p:cNvPr id="20" name="Shape 18"/>
          <p:cNvSpPr/>
          <p:nvPr/>
        </p:nvSpPr>
        <p:spPr>
          <a:xfrm>
            <a:off x="548640" y="5349240"/>
            <a:ext cx="11064240" cy="1005840"/>
          </a:xfrm>
          <a:prstGeom prst="roundRect">
            <a:avLst>
              <a:gd name="adj" fmla="val 10909"/>
            </a:avLst>
          </a:prstGeom>
          <a:solidFill>
            <a:srgbClr val="E8F5E5"/>
          </a:solidFill>
          <a:ln w="38100">
            <a:solidFill>
              <a:srgbClr val="3FA535"/>
            </a:solidFill>
            <a:prstDash val="solid"/>
          </a:ln>
        </p:spPr>
      </p:sp>
      <p:sp>
        <p:nvSpPr>
          <p:cNvPr id="21" name="Text 19"/>
          <p:cNvSpPr/>
          <p:nvPr/>
        </p:nvSpPr>
        <p:spPr>
          <a:xfrm>
            <a:off x="777240" y="5349240"/>
            <a:ext cx="1828800" cy="1005840"/>
          </a:xfrm>
          <a:prstGeom prst="rect">
            <a:avLst/>
          </a:prstGeom>
          <a:noFill/>
          <a:ln/>
        </p:spPr>
        <p:txBody>
          <a:bodyPr wrap="square" rtlCol="0" anchor="ctr"/>
          <a:lstStyle/>
          <a:p>
            <a:pPr algn="ctr" indent="0" marL="0">
              <a:buNone/>
            </a:pPr>
            <a:r>
              <a:rPr lang="en-US" sz="1600" b="1" dirty="0">
                <a:solidFill>
                  <a:srgbClr val="2B2B2B"/>
                </a:solidFill>
                <a:latin typeface="Yu Gothic UI" pitchFamily="34" charset="0"/>
                <a:ea typeface="Yu Gothic UI" pitchFamily="34" charset="-122"/>
                <a:cs typeface="Yu Gothic UI" pitchFamily="34" charset="-120"/>
              </a:rPr>
              <a:t>高槻市の</a:t>
            </a:r>
            <a:endParaRPr lang="en-US" sz="1600" dirty="0"/>
          </a:p>
          <a:p>
            <a:pPr algn="ctr" indent="0" marL="0">
              <a:buNone/>
            </a:pPr>
            <a:r>
              <a:rPr lang="en-US" sz="1600" b="1" dirty="0">
                <a:solidFill>
                  <a:srgbClr val="2B2B2B"/>
                </a:solidFill>
                <a:latin typeface="Yu Gothic UI" pitchFamily="34" charset="0"/>
                <a:ea typeface="Yu Gothic UI" pitchFamily="34" charset="-122"/>
                <a:cs typeface="Yu Gothic UI" pitchFamily="34" charset="-120"/>
              </a:rPr>
              <a:t>ご負担</a:t>
            </a:r>
            <a:endParaRPr lang="en-US" sz="1600" dirty="0"/>
          </a:p>
        </p:txBody>
      </p:sp>
      <p:sp>
        <p:nvSpPr>
          <p:cNvPr id="22" name="Text 20"/>
          <p:cNvSpPr/>
          <p:nvPr/>
        </p:nvSpPr>
        <p:spPr>
          <a:xfrm>
            <a:off x="2834640" y="5440680"/>
            <a:ext cx="1188720" cy="822960"/>
          </a:xfrm>
          <a:prstGeom prst="rect">
            <a:avLst/>
          </a:prstGeom>
          <a:noFill/>
          <a:ln/>
        </p:spPr>
        <p:txBody>
          <a:bodyPr wrap="square" rtlCol="0" anchor="ctr"/>
          <a:lstStyle/>
          <a:p>
            <a:pPr algn="ctr" indent="0" marL="0">
              <a:buNone/>
            </a:pPr>
            <a:r>
              <a:rPr lang="en-US" sz="4000" b="1" dirty="0">
                <a:solidFill>
                  <a:srgbClr val="3FA535"/>
                </a:solidFill>
                <a:latin typeface="Yu Gothic UI" pitchFamily="34" charset="0"/>
                <a:ea typeface="Yu Gothic UI" pitchFamily="34" charset="-122"/>
                <a:cs typeface="Yu Gothic UI" pitchFamily="34" charset="-120"/>
              </a:rPr>
              <a:t>¥0</a:t>
            </a:r>
            <a:endParaRPr lang="en-US" sz="4000" dirty="0"/>
          </a:p>
        </p:txBody>
      </p:sp>
      <p:sp>
        <p:nvSpPr>
          <p:cNvPr id="23" name="Text 21"/>
          <p:cNvSpPr/>
          <p:nvPr/>
        </p:nvSpPr>
        <p:spPr>
          <a:xfrm>
            <a:off x="4023360" y="5440680"/>
            <a:ext cx="1691640" cy="822960"/>
          </a:xfrm>
          <a:prstGeom prst="rect">
            <a:avLst/>
          </a:prstGeom>
          <a:noFill/>
          <a:ln/>
        </p:spPr>
        <p:txBody>
          <a:bodyPr wrap="square" rtlCol="0" anchor="ctr"/>
          <a:lstStyle/>
          <a:p>
            <a:pPr indent="0" marL="0">
              <a:buNone/>
            </a:pPr>
            <a:r>
              <a:rPr lang="en-US" sz="1250" b="1" dirty="0">
                <a:solidFill>
                  <a:srgbClr val="2B2B2B"/>
                </a:solidFill>
                <a:latin typeface="Yu Gothic UI" pitchFamily="34" charset="0"/>
                <a:ea typeface="Yu Gothic UI" pitchFamily="34" charset="-122"/>
                <a:cs typeface="Yu Gothic UI" pitchFamily="34" charset="-120"/>
              </a:rPr>
              <a:t>初期費用・導入費</a:t>
            </a:r>
            <a:endParaRPr lang="en-US" sz="1250" dirty="0"/>
          </a:p>
        </p:txBody>
      </p:sp>
      <p:sp>
        <p:nvSpPr>
          <p:cNvPr id="24" name="Text 22"/>
          <p:cNvSpPr/>
          <p:nvPr/>
        </p:nvSpPr>
        <p:spPr>
          <a:xfrm>
            <a:off x="5715000" y="5440680"/>
            <a:ext cx="1188720" cy="822960"/>
          </a:xfrm>
          <a:prstGeom prst="rect">
            <a:avLst/>
          </a:prstGeom>
          <a:noFill/>
          <a:ln/>
        </p:spPr>
        <p:txBody>
          <a:bodyPr wrap="square" rtlCol="0" anchor="ctr"/>
          <a:lstStyle/>
          <a:p>
            <a:pPr algn="ctr" indent="0" marL="0">
              <a:buNone/>
            </a:pPr>
            <a:r>
              <a:rPr lang="en-US" sz="4000" b="1" dirty="0">
                <a:solidFill>
                  <a:srgbClr val="3FA535"/>
                </a:solidFill>
                <a:latin typeface="Yu Gothic UI" pitchFamily="34" charset="0"/>
                <a:ea typeface="Yu Gothic UI" pitchFamily="34" charset="-122"/>
                <a:cs typeface="Yu Gothic UI" pitchFamily="34" charset="-120"/>
              </a:rPr>
              <a:t>¥0</a:t>
            </a:r>
            <a:endParaRPr lang="en-US" sz="4000" dirty="0"/>
          </a:p>
        </p:txBody>
      </p:sp>
      <p:sp>
        <p:nvSpPr>
          <p:cNvPr id="25" name="Text 23"/>
          <p:cNvSpPr/>
          <p:nvPr/>
        </p:nvSpPr>
        <p:spPr>
          <a:xfrm>
            <a:off x="6903720" y="5440680"/>
            <a:ext cx="1691640" cy="822960"/>
          </a:xfrm>
          <a:prstGeom prst="rect">
            <a:avLst/>
          </a:prstGeom>
          <a:noFill/>
          <a:ln/>
        </p:spPr>
        <p:txBody>
          <a:bodyPr wrap="square" rtlCol="0" anchor="ctr"/>
          <a:lstStyle/>
          <a:p>
            <a:pPr indent="0" marL="0">
              <a:buNone/>
            </a:pPr>
            <a:r>
              <a:rPr lang="en-US" sz="1250" b="1" dirty="0">
                <a:solidFill>
                  <a:srgbClr val="2B2B2B"/>
                </a:solidFill>
                <a:latin typeface="Yu Gothic UI" pitchFamily="34" charset="0"/>
                <a:ea typeface="Yu Gothic UI" pitchFamily="34" charset="-122"/>
                <a:cs typeface="Yu Gothic UI" pitchFamily="34" charset="-120"/>
              </a:rPr>
              <a:t>運用費・委託費</a:t>
            </a:r>
            <a:endParaRPr lang="en-US" sz="1250" dirty="0"/>
          </a:p>
        </p:txBody>
      </p:sp>
      <p:sp>
        <p:nvSpPr>
          <p:cNvPr id="26" name="Text 24"/>
          <p:cNvSpPr/>
          <p:nvPr/>
        </p:nvSpPr>
        <p:spPr>
          <a:xfrm>
            <a:off x="8595360" y="5440680"/>
            <a:ext cx="1188720" cy="822960"/>
          </a:xfrm>
          <a:prstGeom prst="rect">
            <a:avLst/>
          </a:prstGeom>
          <a:noFill/>
          <a:ln/>
        </p:spPr>
        <p:txBody>
          <a:bodyPr wrap="square" rtlCol="0" anchor="ctr"/>
          <a:lstStyle/>
          <a:p>
            <a:pPr algn="ctr" indent="0" marL="0">
              <a:buNone/>
            </a:pPr>
            <a:r>
              <a:rPr lang="en-US" sz="4000" b="1" dirty="0">
                <a:solidFill>
                  <a:srgbClr val="3FA535"/>
                </a:solidFill>
                <a:latin typeface="Yu Gothic UI" pitchFamily="34" charset="0"/>
                <a:ea typeface="Yu Gothic UI" pitchFamily="34" charset="-122"/>
                <a:cs typeface="Yu Gothic UI" pitchFamily="34" charset="-120"/>
              </a:rPr>
              <a:t>¥0</a:t>
            </a:r>
            <a:endParaRPr lang="en-US" sz="4000" dirty="0"/>
          </a:p>
        </p:txBody>
      </p:sp>
      <p:sp>
        <p:nvSpPr>
          <p:cNvPr id="27" name="Text 25"/>
          <p:cNvSpPr/>
          <p:nvPr/>
        </p:nvSpPr>
        <p:spPr>
          <a:xfrm>
            <a:off x="9784080" y="5440680"/>
            <a:ext cx="1691640" cy="822960"/>
          </a:xfrm>
          <a:prstGeom prst="rect">
            <a:avLst/>
          </a:prstGeom>
          <a:noFill/>
          <a:ln/>
        </p:spPr>
        <p:txBody>
          <a:bodyPr wrap="square" rtlCol="0" anchor="ctr"/>
          <a:lstStyle/>
          <a:p>
            <a:pPr indent="0" marL="0">
              <a:buNone/>
            </a:pPr>
            <a:r>
              <a:rPr lang="en-US" sz="1250" b="1" dirty="0">
                <a:solidFill>
                  <a:srgbClr val="2B2B2B"/>
                </a:solidFill>
                <a:latin typeface="Yu Gothic UI" pitchFamily="34" charset="0"/>
                <a:ea typeface="Yu Gothic UI" pitchFamily="34" charset="-122"/>
                <a:cs typeface="Yu Gothic UI" pitchFamily="34" charset="-120"/>
              </a:rPr>
              <a:t>補助金・予算措置</a:t>
            </a:r>
            <a:endParaRPr lang="en-US" sz="1250" dirty="0"/>
          </a:p>
        </p:txBody>
      </p:sp>
      <p:sp>
        <p:nvSpPr>
          <p:cNvPr id="28" name="Text 26"/>
          <p:cNvSpPr/>
          <p:nvPr/>
        </p:nvSpPr>
        <p:spPr>
          <a:xfrm>
            <a:off x="548640" y="6419088"/>
            <a:ext cx="10515600" cy="292608"/>
          </a:xfrm>
          <a:prstGeom prst="rect">
            <a:avLst/>
          </a:prstGeom>
          <a:noFill/>
          <a:ln/>
        </p:spPr>
        <p:txBody>
          <a:bodyPr wrap="square" rtlCol="0" anchor="ctr"/>
          <a:lstStyle/>
          <a:p>
            <a:pPr algn="ctr" indent="0" marL="0">
              <a:buNone/>
            </a:pPr>
            <a:r>
              <a:rPr lang="en-US" sz="1100" dirty="0">
                <a:solidFill>
                  <a:srgbClr val="666666"/>
                </a:solidFill>
                <a:latin typeface="Yu Gothic UI" pitchFamily="34" charset="0"/>
                <a:ea typeface="Yu Gothic UI" pitchFamily="34" charset="-122"/>
                <a:cs typeface="Yu Gothic UI" pitchFamily="34" charset="-120"/>
              </a:rPr>
              <a:t>✓ 運営はすべて民間で行います　／　Stripe決済（業界最高水準のセキュリティ）</a:t>
            </a:r>
            <a:endParaRPr lang="en-US" sz="1100" dirty="0"/>
          </a:p>
        </p:txBody>
      </p:sp>
      <p:sp>
        <p:nvSpPr>
          <p:cNvPr id="29" name="Text 2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三方良しの構造</a:t>
            </a:r>
            <a:endParaRPr lang="en-US" sz="3000" dirty="0"/>
          </a:p>
        </p:txBody>
      </p:sp>
      <p:sp>
        <p:nvSpPr>
          <p:cNvPr id="4" name="Shape 2"/>
          <p:cNvSpPr/>
          <p:nvPr/>
        </p:nvSpPr>
        <p:spPr>
          <a:xfrm>
            <a:off x="548640" y="2194560"/>
            <a:ext cx="3566160" cy="4023360"/>
          </a:xfrm>
          <a:prstGeom prst="roundRect">
            <a:avLst>
              <a:gd name="adj" fmla="val 3846"/>
            </a:avLst>
          </a:prstGeom>
          <a:solidFill>
            <a:srgbClr val="FFFFFF"/>
          </a:solidFill>
          <a:ln w="25400">
            <a:solidFill>
              <a:srgbClr val="E8786C"/>
            </a:solidFill>
            <a:prstDash val="solid"/>
          </a:ln>
        </p:spPr>
      </p:sp>
      <p:sp>
        <p:nvSpPr>
          <p:cNvPr id="5" name="Shape 3"/>
          <p:cNvSpPr/>
          <p:nvPr/>
        </p:nvSpPr>
        <p:spPr>
          <a:xfrm>
            <a:off x="548640" y="2194560"/>
            <a:ext cx="3566160" cy="640080"/>
          </a:xfrm>
          <a:prstGeom prst="rect">
            <a:avLst/>
          </a:prstGeom>
          <a:solidFill>
            <a:srgbClr val="E8786C"/>
          </a:solidFill>
          <a:ln w="12700">
            <a:solidFill>
              <a:srgbClr val="E8786C"/>
            </a:solidFill>
            <a:prstDash val="solid"/>
          </a:ln>
        </p:spPr>
      </p:sp>
      <p:sp>
        <p:nvSpPr>
          <p:cNvPr id="6" name="Text 4"/>
          <p:cNvSpPr/>
          <p:nvPr/>
        </p:nvSpPr>
        <p:spPr>
          <a:xfrm>
            <a:off x="548640" y="2194560"/>
            <a:ext cx="3566160"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お店</a:t>
            </a:r>
            <a:endParaRPr lang="en-US" sz="2200" dirty="0"/>
          </a:p>
        </p:txBody>
      </p:sp>
      <p:sp>
        <p:nvSpPr>
          <p:cNvPr id="7" name="Text 5"/>
          <p:cNvSpPr/>
          <p:nvPr/>
        </p:nvSpPr>
        <p:spPr>
          <a:xfrm>
            <a:off x="548640" y="3017520"/>
            <a:ext cx="356616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8" name="Text 6"/>
          <p:cNvSpPr/>
          <p:nvPr/>
        </p:nvSpPr>
        <p:spPr>
          <a:xfrm>
            <a:off x="731520" y="4572000"/>
            <a:ext cx="3200400" cy="1554480"/>
          </a:xfrm>
          <a:prstGeom prst="rect">
            <a:avLst/>
          </a:prstGeom>
          <a:noFill/>
          <a:ln/>
        </p:spPr>
        <p:txBody>
          <a:bodyPr wrap="square" rtlCol="0" anchor="ctr"/>
          <a:lstStyle/>
          <a:p>
            <a:pPr algn="ctr" indent="0" marL="0">
              <a:buNone/>
            </a:pPr>
            <a:r>
              <a:rPr lang="en-US" sz="1500" dirty="0">
                <a:solidFill>
                  <a:srgbClr val="2B2B2B"/>
                </a:solidFill>
                <a:latin typeface="Yu Gothic UI" pitchFamily="34" charset="0"/>
                <a:ea typeface="Yu Gothic UI" pitchFamily="34" charset="-122"/>
                <a:cs typeface="Yu Gothic UI" pitchFamily="34" charset="-120"/>
              </a:rPr>
              <a:t>廃棄ロス削減</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新規顧客獲得</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ブランド向上</a:t>
            </a:r>
            <a:endParaRPr lang="en-US" sz="1500" dirty="0"/>
          </a:p>
        </p:txBody>
      </p:sp>
      <p:sp>
        <p:nvSpPr>
          <p:cNvPr id="9" name="Shape 7"/>
          <p:cNvSpPr/>
          <p:nvPr/>
        </p:nvSpPr>
        <p:spPr>
          <a:xfrm>
            <a:off x="4389120" y="2194560"/>
            <a:ext cx="3566160" cy="4023360"/>
          </a:xfrm>
          <a:prstGeom prst="roundRect">
            <a:avLst>
              <a:gd name="adj" fmla="val 3846"/>
            </a:avLst>
          </a:prstGeom>
          <a:solidFill>
            <a:srgbClr val="FFFFFF"/>
          </a:solidFill>
          <a:ln w="25400">
            <a:solidFill>
              <a:srgbClr val="3FA535"/>
            </a:solidFill>
            <a:prstDash val="solid"/>
          </a:ln>
        </p:spPr>
      </p:sp>
      <p:sp>
        <p:nvSpPr>
          <p:cNvPr id="10" name="Shape 8"/>
          <p:cNvSpPr/>
          <p:nvPr/>
        </p:nvSpPr>
        <p:spPr>
          <a:xfrm>
            <a:off x="4389120" y="2194560"/>
            <a:ext cx="3566160" cy="640080"/>
          </a:xfrm>
          <a:prstGeom prst="rect">
            <a:avLst/>
          </a:prstGeom>
          <a:solidFill>
            <a:srgbClr val="3FA535"/>
          </a:solidFill>
          <a:ln w="12700">
            <a:solidFill>
              <a:srgbClr val="3FA535"/>
            </a:solidFill>
            <a:prstDash val="solid"/>
          </a:ln>
        </p:spPr>
      </p:sp>
      <p:sp>
        <p:nvSpPr>
          <p:cNvPr id="11" name="Text 9"/>
          <p:cNvSpPr/>
          <p:nvPr/>
        </p:nvSpPr>
        <p:spPr>
          <a:xfrm>
            <a:off x="4389120" y="2194560"/>
            <a:ext cx="3566160"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お客様</a:t>
            </a:r>
            <a:endParaRPr lang="en-US" sz="2200" dirty="0"/>
          </a:p>
        </p:txBody>
      </p:sp>
      <p:sp>
        <p:nvSpPr>
          <p:cNvPr id="12" name="Text 10"/>
          <p:cNvSpPr/>
          <p:nvPr/>
        </p:nvSpPr>
        <p:spPr>
          <a:xfrm>
            <a:off x="4389120" y="3017520"/>
            <a:ext cx="356616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13" name="Text 11"/>
          <p:cNvSpPr/>
          <p:nvPr/>
        </p:nvSpPr>
        <p:spPr>
          <a:xfrm>
            <a:off x="4572000" y="4572000"/>
            <a:ext cx="3200400" cy="1554480"/>
          </a:xfrm>
          <a:prstGeom prst="rect">
            <a:avLst/>
          </a:prstGeom>
          <a:noFill/>
          <a:ln/>
        </p:spPr>
        <p:txBody>
          <a:bodyPr wrap="square" rtlCol="0" anchor="ctr"/>
          <a:lstStyle/>
          <a:p>
            <a:pPr algn="ctr" indent="0" marL="0">
              <a:buNone/>
            </a:pPr>
            <a:r>
              <a:rPr lang="en-US" sz="1500" dirty="0">
                <a:solidFill>
                  <a:srgbClr val="2B2B2B"/>
                </a:solidFill>
                <a:latin typeface="Yu Gothic UI" pitchFamily="34" charset="0"/>
                <a:ea typeface="Yu Gothic UI" pitchFamily="34" charset="-122"/>
                <a:cs typeface="Yu Gothic UI" pitchFamily="34" charset="-120"/>
              </a:rPr>
              <a:t>お得に購入</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食品ロス削減に</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参加できる</a:t>
            </a:r>
            <a:endParaRPr lang="en-US" sz="1500" dirty="0"/>
          </a:p>
        </p:txBody>
      </p:sp>
      <p:sp>
        <p:nvSpPr>
          <p:cNvPr id="14" name="Shape 12"/>
          <p:cNvSpPr/>
          <p:nvPr/>
        </p:nvSpPr>
        <p:spPr>
          <a:xfrm>
            <a:off x="8229600" y="2194560"/>
            <a:ext cx="3566160" cy="4023360"/>
          </a:xfrm>
          <a:prstGeom prst="roundRect">
            <a:avLst>
              <a:gd name="adj" fmla="val 3846"/>
            </a:avLst>
          </a:prstGeom>
          <a:solidFill>
            <a:srgbClr val="FFFFFF"/>
          </a:solidFill>
          <a:ln w="25400">
            <a:solidFill>
              <a:srgbClr val="1E2761"/>
            </a:solidFill>
            <a:prstDash val="solid"/>
          </a:ln>
        </p:spPr>
      </p:sp>
      <p:sp>
        <p:nvSpPr>
          <p:cNvPr id="15" name="Shape 13"/>
          <p:cNvSpPr/>
          <p:nvPr/>
        </p:nvSpPr>
        <p:spPr>
          <a:xfrm>
            <a:off x="8229600" y="2194560"/>
            <a:ext cx="3566160" cy="640080"/>
          </a:xfrm>
          <a:prstGeom prst="rect">
            <a:avLst/>
          </a:prstGeom>
          <a:solidFill>
            <a:srgbClr val="1E2761"/>
          </a:solidFill>
          <a:ln w="12700">
            <a:solidFill>
              <a:srgbClr val="1E2761"/>
            </a:solidFill>
            <a:prstDash val="solid"/>
          </a:ln>
        </p:spPr>
      </p:sp>
      <p:sp>
        <p:nvSpPr>
          <p:cNvPr id="16" name="Text 14"/>
          <p:cNvSpPr/>
          <p:nvPr/>
        </p:nvSpPr>
        <p:spPr>
          <a:xfrm>
            <a:off x="8229600" y="2194560"/>
            <a:ext cx="3566160"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高槻市</a:t>
            </a:r>
            <a:endParaRPr lang="en-US" sz="2200" dirty="0"/>
          </a:p>
        </p:txBody>
      </p:sp>
      <p:sp>
        <p:nvSpPr>
          <p:cNvPr id="17" name="Text 15"/>
          <p:cNvSpPr/>
          <p:nvPr/>
        </p:nvSpPr>
        <p:spPr>
          <a:xfrm>
            <a:off x="8229600" y="3017520"/>
            <a:ext cx="356616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18" name="Text 16"/>
          <p:cNvSpPr/>
          <p:nvPr/>
        </p:nvSpPr>
        <p:spPr>
          <a:xfrm>
            <a:off x="8412480" y="4572000"/>
            <a:ext cx="3200400" cy="1554480"/>
          </a:xfrm>
          <a:prstGeom prst="rect">
            <a:avLst/>
          </a:prstGeom>
          <a:noFill/>
          <a:ln/>
        </p:spPr>
        <p:txBody>
          <a:bodyPr wrap="square" rtlCol="0" anchor="ctr"/>
          <a:lstStyle/>
          <a:p>
            <a:pPr algn="ctr" indent="0" marL="0">
              <a:buNone/>
            </a:pPr>
            <a:r>
              <a:rPr lang="en-US" sz="1500" dirty="0">
                <a:solidFill>
                  <a:srgbClr val="2B2B2B"/>
                </a:solidFill>
                <a:latin typeface="Yu Gothic UI" pitchFamily="34" charset="0"/>
                <a:ea typeface="Yu Gothic UI" pitchFamily="34" charset="-122"/>
                <a:cs typeface="Yu Gothic UI" pitchFamily="34" charset="-120"/>
              </a:rPr>
              <a:t>CO2削減</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地域経済活性化</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SDGs達成</a:t>
            </a:r>
            <a:endParaRPr lang="en-US" sz="1500" dirty="0"/>
          </a:p>
        </p:txBody>
      </p:sp>
      <p:sp>
        <p:nvSpPr>
          <p:cNvPr id="19"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すでに動いています（実績）</a:t>
            </a:r>
            <a:endParaRPr lang="en-US" sz="3000" dirty="0"/>
          </a:p>
        </p:txBody>
      </p:sp>
      <p:sp>
        <p:nvSpPr>
          <p:cNvPr id="4" name="Shape 2"/>
          <p:cNvSpPr/>
          <p:nvPr/>
        </p:nvSpPr>
        <p:spPr>
          <a:xfrm>
            <a:off x="548640" y="1783080"/>
            <a:ext cx="2651760" cy="2286000"/>
          </a:xfrm>
          <a:prstGeom prst="roundRect">
            <a:avLst>
              <a:gd name="adj" fmla="val 4000"/>
            </a:avLst>
          </a:prstGeom>
          <a:solidFill>
            <a:srgbClr val="F5F5F5"/>
          </a:solidFill>
          <a:ln w="12700">
            <a:solidFill>
              <a:srgbClr val="F5F5F5"/>
            </a:solidFill>
            <a:prstDash val="solid"/>
          </a:ln>
        </p:spPr>
      </p:sp>
      <p:sp>
        <p:nvSpPr>
          <p:cNvPr id="5" name="Text 3"/>
          <p:cNvSpPr/>
          <p:nvPr/>
        </p:nvSpPr>
        <p:spPr>
          <a:xfrm>
            <a:off x="548640" y="2148840"/>
            <a:ext cx="2651760" cy="1097280"/>
          </a:xfrm>
          <a:prstGeom prst="rect">
            <a:avLst/>
          </a:prstGeom>
          <a:noFill/>
          <a:ln/>
        </p:spPr>
        <p:txBody>
          <a:bodyPr wrap="square" rtlCol="0" anchor="ctr"/>
          <a:lstStyle/>
          <a:p>
            <a:pPr algn="ctr" indent="0" marL="0">
              <a:buNone/>
            </a:pPr>
            <a:r>
              <a:rPr lang="en-US" sz="3400" b="1" dirty="0">
                <a:solidFill>
                  <a:srgbClr val="E8786C"/>
                </a:solidFill>
                <a:latin typeface="Yu Gothic UI" pitchFamily="34" charset="0"/>
                <a:ea typeface="Yu Gothic UI" pitchFamily="34" charset="-122"/>
                <a:cs typeface="Yu Gothic UI" pitchFamily="34" charset="-120"/>
              </a:rPr>
              <a:t>3,000</a:t>
            </a:r>
            <a:pPr algn="ctr" indent="0" marL="0">
              <a:buNone/>
            </a:pPr>
            <a:endParaRPr lang="en-US" sz="3400" dirty="0"/>
          </a:p>
        </p:txBody>
      </p:sp>
      <p:sp>
        <p:nvSpPr>
          <p:cNvPr id="6" name="Text 4"/>
          <p:cNvSpPr/>
          <p:nvPr/>
        </p:nvSpPr>
        <p:spPr>
          <a:xfrm>
            <a:off x="64008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累計ダウンロード</a:t>
            </a:r>
            <a:endParaRPr lang="en-US" sz="1250" dirty="0"/>
          </a:p>
        </p:txBody>
      </p:sp>
      <p:sp>
        <p:nvSpPr>
          <p:cNvPr id="7" name="Shape 5"/>
          <p:cNvSpPr/>
          <p:nvPr/>
        </p:nvSpPr>
        <p:spPr>
          <a:xfrm>
            <a:off x="3360420" y="1783080"/>
            <a:ext cx="2651760" cy="2286000"/>
          </a:xfrm>
          <a:prstGeom prst="roundRect">
            <a:avLst>
              <a:gd name="adj" fmla="val 4000"/>
            </a:avLst>
          </a:prstGeom>
          <a:solidFill>
            <a:srgbClr val="F5F5F5"/>
          </a:solidFill>
          <a:ln w="12700">
            <a:solidFill>
              <a:srgbClr val="F5F5F5"/>
            </a:solidFill>
            <a:prstDash val="solid"/>
          </a:ln>
        </p:spPr>
      </p:sp>
      <p:sp>
        <p:nvSpPr>
          <p:cNvPr id="8" name="Text 6"/>
          <p:cNvSpPr/>
          <p:nvPr/>
        </p:nvSpPr>
        <p:spPr>
          <a:xfrm>
            <a:off x="3360420" y="2148840"/>
            <a:ext cx="2651760" cy="1097280"/>
          </a:xfrm>
          <a:prstGeom prst="rect">
            <a:avLst/>
          </a:prstGeom>
          <a:noFill/>
          <a:ln/>
        </p:spPr>
        <p:txBody>
          <a:bodyPr wrap="square" rtlCol="0" anchor="ctr"/>
          <a:lstStyle/>
          <a:p>
            <a:pPr algn="ctr" indent="0" marL="0">
              <a:buNone/>
            </a:pPr>
            <a:r>
              <a:rPr lang="en-US" sz="5200" b="1" dirty="0">
                <a:solidFill>
                  <a:srgbClr val="3FA535"/>
                </a:solidFill>
                <a:latin typeface="Yu Gothic UI" pitchFamily="34" charset="0"/>
                <a:ea typeface="Yu Gothic UI" pitchFamily="34" charset="-122"/>
                <a:cs typeface="Yu Gothic UI" pitchFamily="34" charset="-120"/>
              </a:rPr>
              <a:t>27</a:t>
            </a:r>
            <a:pPr algn="ctr" indent="0" marL="0">
              <a:buNone/>
            </a:pPr>
            <a:r>
              <a:rPr lang="en-US" sz="2000" b="1" dirty="0">
                <a:solidFill>
                  <a:srgbClr val="3FA535"/>
                </a:solidFill>
                <a:latin typeface="Yu Gothic UI" pitchFamily="34" charset="0"/>
                <a:ea typeface="Yu Gothic UI" pitchFamily="34" charset="-122"/>
                <a:cs typeface="Yu Gothic UI" pitchFamily="34" charset="-120"/>
              </a:rPr>
              <a:t> 店</a:t>
            </a:r>
            <a:endParaRPr lang="en-US" sz="5200" dirty="0"/>
          </a:p>
        </p:txBody>
      </p:sp>
      <p:sp>
        <p:nvSpPr>
          <p:cNvPr id="9" name="Text 7"/>
          <p:cNvSpPr/>
          <p:nvPr/>
        </p:nvSpPr>
        <p:spPr>
          <a:xfrm>
            <a:off x="345186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承認済み加盟店</a:t>
            </a:r>
            <a:endParaRPr lang="en-US" sz="1250" dirty="0"/>
          </a:p>
        </p:txBody>
      </p:sp>
      <p:sp>
        <p:nvSpPr>
          <p:cNvPr id="10" name="Shape 8"/>
          <p:cNvSpPr/>
          <p:nvPr/>
        </p:nvSpPr>
        <p:spPr>
          <a:xfrm>
            <a:off x="6172200" y="1783080"/>
            <a:ext cx="2651760" cy="2286000"/>
          </a:xfrm>
          <a:prstGeom prst="roundRect">
            <a:avLst>
              <a:gd name="adj" fmla="val 4000"/>
            </a:avLst>
          </a:prstGeom>
          <a:solidFill>
            <a:srgbClr val="F5F5F5"/>
          </a:solidFill>
          <a:ln w="12700">
            <a:solidFill>
              <a:srgbClr val="F5F5F5"/>
            </a:solidFill>
            <a:prstDash val="solid"/>
          </a:ln>
        </p:spPr>
      </p:sp>
      <p:sp>
        <p:nvSpPr>
          <p:cNvPr id="11" name="Text 9"/>
          <p:cNvSpPr/>
          <p:nvPr/>
        </p:nvSpPr>
        <p:spPr>
          <a:xfrm>
            <a:off x="6172200" y="2148840"/>
            <a:ext cx="2651760" cy="1097280"/>
          </a:xfrm>
          <a:prstGeom prst="rect">
            <a:avLst/>
          </a:prstGeom>
          <a:noFill/>
          <a:ln/>
        </p:spPr>
        <p:txBody>
          <a:bodyPr wrap="square" rtlCol="0" anchor="ctr"/>
          <a:lstStyle/>
          <a:p>
            <a:pPr algn="ctr" indent="0" marL="0">
              <a:buNone/>
            </a:pPr>
            <a:r>
              <a:rPr lang="en-US" sz="5200" b="1" dirty="0">
                <a:solidFill>
                  <a:srgbClr val="1E2761"/>
                </a:solidFill>
                <a:latin typeface="Yu Gothic UI" pitchFamily="34" charset="0"/>
                <a:ea typeface="Yu Gothic UI" pitchFamily="34" charset="-122"/>
                <a:cs typeface="Yu Gothic UI" pitchFamily="34" charset="-120"/>
              </a:rPr>
              <a:t>119</a:t>
            </a:r>
            <a:pPr algn="ctr" indent="0" marL="0">
              <a:buNone/>
            </a:pPr>
            <a:r>
              <a:rPr lang="en-US" sz="2000" b="1" dirty="0">
                <a:solidFill>
                  <a:srgbClr val="1E2761"/>
                </a:solidFill>
                <a:latin typeface="Yu Gothic UI" pitchFamily="34" charset="0"/>
                <a:ea typeface="Yu Gothic UI" pitchFamily="34" charset="-122"/>
                <a:cs typeface="Yu Gothic UI" pitchFamily="34" charset="-120"/>
              </a:rPr>
              <a:t> 袋</a:t>
            </a:r>
            <a:endParaRPr lang="en-US" sz="5200" dirty="0"/>
          </a:p>
        </p:txBody>
      </p:sp>
      <p:sp>
        <p:nvSpPr>
          <p:cNvPr id="12" name="Text 10"/>
          <p:cNvSpPr/>
          <p:nvPr/>
        </p:nvSpPr>
        <p:spPr>
          <a:xfrm>
            <a:off x="626364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救った食品（累計）</a:t>
            </a:r>
            <a:endParaRPr lang="en-US" sz="1250" dirty="0"/>
          </a:p>
        </p:txBody>
      </p:sp>
      <p:sp>
        <p:nvSpPr>
          <p:cNvPr id="13" name="Shape 11"/>
          <p:cNvSpPr/>
          <p:nvPr/>
        </p:nvSpPr>
        <p:spPr>
          <a:xfrm>
            <a:off x="8983980" y="1783080"/>
            <a:ext cx="2651760" cy="2286000"/>
          </a:xfrm>
          <a:prstGeom prst="roundRect">
            <a:avLst>
              <a:gd name="adj" fmla="val 4000"/>
            </a:avLst>
          </a:prstGeom>
          <a:solidFill>
            <a:srgbClr val="F5F5F5"/>
          </a:solidFill>
          <a:ln w="12700">
            <a:solidFill>
              <a:srgbClr val="F5F5F5"/>
            </a:solidFill>
            <a:prstDash val="solid"/>
          </a:ln>
        </p:spPr>
      </p:sp>
      <p:sp>
        <p:nvSpPr>
          <p:cNvPr id="14" name="Text 12"/>
          <p:cNvSpPr/>
          <p:nvPr/>
        </p:nvSpPr>
        <p:spPr>
          <a:xfrm>
            <a:off x="8983980" y="2148840"/>
            <a:ext cx="2651760" cy="1097280"/>
          </a:xfrm>
          <a:prstGeom prst="rect">
            <a:avLst/>
          </a:prstGeom>
          <a:noFill/>
          <a:ln/>
        </p:spPr>
        <p:txBody>
          <a:bodyPr wrap="square" rtlCol="0" anchor="ctr"/>
          <a:lstStyle/>
          <a:p>
            <a:pPr algn="ctr" indent="0" marL="0">
              <a:buNone/>
            </a:pPr>
            <a:r>
              <a:rPr lang="en-US" sz="3400" b="1" dirty="0">
                <a:solidFill>
                  <a:srgbClr val="E8786C"/>
                </a:solidFill>
                <a:latin typeface="Yu Gothic UI" pitchFamily="34" charset="0"/>
                <a:ea typeface="Yu Gothic UI" pitchFamily="34" charset="-122"/>
                <a:cs typeface="Yu Gothic UI" pitchFamily="34" charset="-120"/>
              </a:rPr>
              <a:t>¥45,263</a:t>
            </a:r>
            <a:pPr algn="ctr" indent="0" marL="0">
              <a:buNone/>
            </a:pPr>
            <a:endParaRPr lang="en-US" sz="3400" dirty="0"/>
          </a:p>
        </p:txBody>
      </p:sp>
      <p:sp>
        <p:nvSpPr>
          <p:cNvPr id="15" name="Text 13"/>
          <p:cNvSpPr/>
          <p:nvPr/>
        </p:nvSpPr>
        <p:spPr>
          <a:xfrm>
            <a:off x="907542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地元店へ還元（累計）</a:t>
            </a:r>
            <a:endParaRPr lang="en-US" sz="1250" dirty="0"/>
          </a:p>
        </p:txBody>
      </p:sp>
      <p:sp>
        <p:nvSpPr>
          <p:cNvPr id="16" name="Shape 14"/>
          <p:cNvSpPr/>
          <p:nvPr/>
        </p:nvSpPr>
        <p:spPr>
          <a:xfrm>
            <a:off x="548640" y="4343400"/>
            <a:ext cx="11064240" cy="1691640"/>
          </a:xfrm>
          <a:prstGeom prst="roundRect">
            <a:avLst>
              <a:gd name="adj" fmla="val 6486"/>
            </a:avLst>
          </a:prstGeom>
          <a:solidFill>
            <a:srgbClr val="FFF1EE"/>
          </a:solidFill>
          <a:ln w="12700">
            <a:solidFill>
              <a:srgbClr val="FFF1EE"/>
            </a:solidFill>
            <a:prstDash val="solid"/>
          </a:ln>
        </p:spPr>
      </p:sp>
      <p:sp>
        <p:nvSpPr>
          <p:cNvPr id="17" name="Text 15"/>
          <p:cNvSpPr/>
          <p:nvPr/>
        </p:nvSpPr>
        <p:spPr>
          <a:xfrm>
            <a:off x="731520" y="4572000"/>
            <a:ext cx="10698480" cy="502920"/>
          </a:xfrm>
          <a:prstGeom prst="rect">
            <a:avLst/>
          </a:prstGeom>
          <a:noFill/>
          <a:ln/>
        </p:spPr>
        <p:txBody>
          <a:bodyPr wrap="square" rtlCol="0" anchor="ctr"/>
          <a:lstStyle/>
          <a:p>
            <a:pPr indent="0" marL="0">
              <a:buNone/>
            </a:pPr>
            <a:r>
              <a:rPr lang="en-US" sz="1800" b="1" dirty="0">
                <a:solidFill>
                  <a:srgbClr val="2B2B2B"/>
                </a:solidFill>
                <a:latin typeface="Yu Gothic UI" pitchFamily="34" charset="0"/>
                <a:ea typeface="Yu Gothic UI" pitchFamily="34" charset="-122"/>
                <a:cs typeface="Yu Gothic UI" pitchFamily="34" charset="-120"/>
              </a:rPr>
              <a:t>累計取扱高（GMV）¥60,120</a:t>
            </a:r>
            <a:pPr indent="0" marL="0">
              <a:buNone/>
            </a:pPr>
            <a:r>
              <a:rPr lang="en-US" sz="1400" dirty="0">
                <a:solidFill>
                  <a:srgbClr val="2B2B2B"/>
                </a:solidFill>
                <a:latin typeface="Yu Gothic UI" pitchFamily="34" charset="0"/>
                <a:ea typeface="Yu Gothic UI" pitchFamily="34" charset="-122"/>
                <a:cs typeface="Yu Gothic UI" pitchFamily="34" charset="-120"/>
              </a:rPr>
              <a:t>　／　iOSアプリ App Store公開中　／　Instagram・Xで発信中</a:t>
            </a:r>
            <a:endParaRPr lang="en-US" sz="1800" dirty="0"/>
          </a:p>
        </p:txBody>
      </p:sp>
      <p:sp>
        <p:nvSpPr>
          <p:cNvPr id="18" name="Text 16"/>
          <p:cNvSpPr/>
          <p:nvPr/>
        </p:nvSpPr>
        <p:spPr>
          <a:xfrm>
            <a:off x="731520" y="5120640"/>
            <a:ext cx="10698480" cy="457200"/>
          </a:xfrm>
          <a:prstGeom prst="rect">
            <a:avLst/>
          </a:prstGeom>
          <a:noFill/>
          <a:ln/>
        </p:spPr>
        <p:txBody>
          <a:bodyPr wrap="square" rtlCol="0" anchor="ctr"/>
          <a:lstStyle/>
          <a:p>
            <a:pPr indent="0" marL="0">
              <a:buNone/>
            </a:pPr>
            <a:r>
              <a:rPr lang="en-US" sz="1500" dirty="0">
                <a:solidFill>
                  <a:srgbClr val="666666"/>
                </a:solidFill>
                <a:latin typeface="Yu Gothic UI" pitchFamily="34" charset="0"/>
                <a:ea typeface="Yu Gothic UI" pitchFamily="34" charset="-122"/>
                <a:cs typeface="Yu Gothic UI" pitchFamily="34" charset="-120"/>
              </a:rPr>
              <a:t>高槻を中心に、実際に食品ロス削減の取引が生まれています。</a:t>
            </a:r>
            <a:endParaRPr lang="en-US" sz="1500" dirty="0"/>
          </a:p>
        </p:txBody>
      </p:sp>
      <p:sp>
        <p:nvSpPr>
          <p:cNvPr id="19" name="Text 17"/>
          <p:cNvSpPr/>
          <p:nvPr/>
        </p:nvSpPr>
        <p:spPr>
          <a:xfrm>
            <a:off x="548640" y="6172200"/>
            <a:ext cx="11064240" cy="365760"/>
          </a:xfrm>
          <a:prstGeom prst="rect">
            <a:avLst/>
          </a:prstGeom>
          <a:noFill/>
          <a:ln/>
        </p:spPr>
        <p:txBody>
          <a:bodyPr wrap="square" rtlCol="0" anchor="ctr"/>
          <a:lstStyle/>
          <a:p>
            <a:pPr algn="ctr" indent="0" marL="0">
              <a:buNone/>
            </a:pPr>
            <a:r>
              <a:rPr lang="en-US" sz="1100" i="1" dirty="0">
                <a:solidFill>
                  <a:srgbClr val="666666"/>
                </a:solidFill>
                <a:latin typeface="Yu Gothic UI" pitchFamily="34" charset="0"/>
                <a:ea typeface="Yu Gothic UI" pitchFamily="34" charset="-122"/>
                <a:cs typeface="Yu Gothic UI" pitchFamily="34" charset="-120"/>
              </a:rPr>
              <a:t>出典：おすそわけ 自社ダッシュボード（2026年7月時点）</a:t>
            </a:r>
            <a:endParaRPr lang="en-US" sz="1100" dirty="0"/>
          </a:p>
        </p:txBody>
      </p:sp>
      <p:sp>
        <p:nvSpPr>
          <p:cNvPr id="20" name="Text 18"/>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kusao\OneDrive\デスクトップ\line-claude-bot\おすそわけ_成長グラフ.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3FA535"/>
          </a:solidFill>
          <a:ln w="12700">
            <a:solidFill>
              <a:srgbClr val="3FA535"/>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これまでの削減インパクト（試算）</a:t>
            </a:r>
            <a:endParaRPr lang="en-US" sz="3000" dirty="0"/>
          </a:p>
        </p:txBody>
      </p:sp>
      <p:sp>
        <p:nvSpPr>
          <p:cNvPr id="4" name="Shape 2"/>
          <p:cNvSpPr/>
          <p:nvPr/>
        </p:nvSpPr>
        <p:spPr>
          <a:xfrm>
            <a:off x="548640" y="1920240"/>
            <a:ext cx="5394960" cy="3200400"/>
          </a:xfrm>
          <a:prstGeom prst="roundRect">
            <a:avLst>
              <a:gd name="adj" fmla="val 4286"/>
            </a:avLst>
          </a:prstGeom>
          <a:solidFill>
            <a:srgbClr val="E8F5E5"/>
          </a:solidFill>
          <a:ln w="25400">
            <a:solidFill>
              <a:srgbClr val="3FA535"/>
            </a:solidFill>
            <a:prstDash val="solid"/>
          </a:ln>
        </p:spPr>
      </p:sp>
      <p:sp>
        <p:nvSpPr>
          <p:cNvPr id="5" name="Text 3"/>
          <p:cNvSpPr/>
          <p:nvPr/>
        </p:nvSpPr>
        <p:spPr>
          <a:xfrm>
            <a:off x="548640" y="2148840"/>
            <a:ext cx="5394960" cy="457200"/>
          </a:xfrm>
          <a:prstGeom prst="rect">
            <a:avLst/>
          </a:prstGeom>
          <a:noFill/>
          <a:ln/>
        </p:spPr>
        <p:txBody>
          <a:bodyPr wrap="square" rtlCol="0" anchor="ctr"/>
          <a:lstStyle/>
          <a:p>
            <a:pPr algn="ctr" indent="0" marL="0">
              <a:buNone/>
            </a:pPr>
            <a:r>
              <a:rPr lang="en-US" sz="1600" b="1" dirty="0">
                <a:solidFill>
                  <a:srgbClr val="3FA535"/>
                </a:solidFill>
                <a:latin typeface="Yu Gothic UI" pitchFamily="34" charset="0"/>
                <a:ea typeface="Yu Gothic UI" pitchFamily="34" charset="-122"/>
                <a:cs typeface="Yu Gothic UI" pitchFamily="34" charset="-120"/>
              </a:rPr>
              <a:t>廃棄から救った食品</a:t>
            </a:r>
            <a:endParaRPr lang="en-US" sz="1600" dirty="0"/>
          </a:p>
        </p:txBody>
      </p:sp>
      <p:sp>
        <p:nvSpPr>
          <p:cNvPr id="6" name="Text 4"/>
          <p:cNvSpPr/>
          <p:nvPr/>
        </p:nvSpPr>
        <p:spPr>
          <a:xfrm>
            <a:off x="548640" y="2743200"/>
            <a:ext cx="5394960" cy="1371600"/>
          </a:xfrm>
          <a:prstGeom prst="rect">
            <a:avLst/>
          </a:prstGeom>
          <a:noFill/>
          <a:ln/>
        </p:spPr>
        <p:txBody>
          <a:bodyPr wrap="square" rtlCol="0" anchor="ctr"/>
          <a:lstStyle/>
          <a:p>
            <a:pPr algn="ctr" indent="0" marL="0">
              <a:buNone/>
            </a:pPr>
            <a:r>
              <a:rPr lang="en-US" sz="8200" b="1" dirty="0">
                <a:solidFill>
                  <a:srgbClr val="2B2B2B"/>
                </a:solidFill>
                <a:latin typeface="Yu Gothic UI" pitchFamily="34" charset="0"/>
                <a:ea typeface="Yu Gothic UI" pitchFamily="34" charset="-122"/>
                <a:cs typeface="Yu Gothic UI" pitchFamily="34" charset="-120"/>
              </a:rPr>
              <a:t>約 60</a:t>
            </a:r>
            <a:pPr algn="ctr" indent="0" marL="0">
              <a:buNone/>
            </a:pPr>
            <a:r>
              <a:rPr lang="en-US" sz="3000" b="1" dirty="0">
                <a:solidFill>
                  <a:srgbClr val="2B2B2B"/>
                </a:solidFill>
                <a:latin typeface="Yu Gothic UI" pitchFamily="34" charset="0"/>
                <a:ea typeface="Yu Gothic UI" pitchFamily="34" charset="-122"/>
                <a:cs typeface="Yu Gothic UI" pitchFamily="34" charset="-120"/>
              </a:rPr>
              <a:t> kg</a:t>
            </a:r>
            <a:endParaRPr lang="en-US" sz="8200" dirty="0"/>
          </a:p>
        </p:txBody>
      </p:sp>
      <p:sp>
        <p:nvSpPr>
          <p:cNvPr id="7" name="Text 5"/>
          <p:cNvSpPr/>
          <p:nvPr/>
        </p:nvSpPr>
        <p:spPr>
          <a:xfrm>
            <a:off x="548640" y="4206240"/>
            <a:ext cx="5394960" cy="457200"/>
          </a:xfrm>
          <a:prstGeom prst="rect">
            <a:avLst/>
          </a:prstGeom>
          <a:noFill/>
          <a:ln/>
        </p:spPr>
        <p:txBody>
          <a:bodyPr wrap="square" rtlCol="0" anchor="ctr"/>
          <a:lstStyle/>
          <a:p>
            <a:pPr algn="ctr" indent="0" marL="0">
              <a:buNone/>
            </a:pPr>
            <a:r>
              <a:rPr lang="en-US" sz="1300" dirty="0">
                <a:solidFill>
                  <a:srgbClr val="666666"/>
                </a:solidFill>
                <a:latin typeface="Yu Gothic UI" pitchFamily="34" charset="0"/>
                <a:ea typeface="Yu Gothic UI" pitchFamily="34" charset="-122"/>
                <a:cs typeface="Yu Gothic UI" pitchFamily="34" charset="-120"/>
              </a:rPr>
              <a:t>累計119袋 × 1袋あたり0.5kg換算</a:t>
            </a:r>
            <a:endParaRPr lang="en-US" sz="1300" dirty="0"/>
          </a:p>
        </p:txBody>
      </p:sp>
      <p:sp>
        <p:nvSpPr>
          <p:cNvPr id="8" name="Shape 6"/>
          <p:cNvSpPr/>
          <p:nvPr/>
        </p:nvSpPr>
        <p:spPr>
          <a:xfrm>
            <a:off x="6217920" y="1920240"/>
            <a:ext cx="5394960" cy="3200400"/>
          </a:xfrm>
          <a:prstGeom prst="roundRect">
            <a:avLst>
              <a:gd name="adj" fmla="val 4286"/>
            </a:avLst>
          </a:prstGeom>
          <a:solidFill>
            <a:srgbClr val="EAECF5"/>
          </a:solidFill>
          <a:ln w="25400">
            <a:solidFill>
              <a:srgbClr val="1E2761"/>
            </a:solidFill>
            <a:prstDash val="solid"/>
          </a:ln>
        </p:spPr>
      </p:sp>
      <p:sp>
        <p:nvSpPr>
          <p:cNvPr id="9" name="Text 7"/>
          <p:cNvSpPr/>
          <p:nvPr/>
        </p:nvSpPr>
        <p:spPr>
          <a:xfrm>
            <a:off x="6217920" y="2148840"/>
            <a:ext cx="5394960" cy="457200"/>
          </a:xfrm>
          <a:prstGeom prst="rect">
            <a:avLst/>
          </a:prstGeom>
          <a:noFill/>
          <a:ln/>
        </p:spPr>
        <p:txBody>
          <a:bodyPr wrap="square" rtlCol="0" anchor="ctr"/>
          <a:lstStyle/>
          <a:p>
            <a:pPr algn="ctr" indent="0" marL="0">
              <a:buNone/>
            </a:pPr>
            <a:r>
              <a:rPr lang="en-US" sz="1600" b="1" dirty="0">
                <a:solidFill>
                  <a:srgbClr val="1E2761"/>
                </a:solidFill>
                <a:latin typeface="Yu Gothic UI" pitchFamily="34" charset="0"/>
                <a:ea typeface="Yu Gothic UI" pitchFamily="34" charset="-122"/>
                <a:cs typeface="Yu Gothic UI" pitchFamily="34" charset="-120"/>
              </a:rPr>
              <a:t>削減したCO₂</a:t>
            </a:r>
            <a:endParaRPr lang="en-US" sz="1600" dirty="0"/>
          </a:p>
        </p:txBody>
      </p:sp>
      <p:sp>
        <p:nvSpPr>
          <p:cNvPr id="10" name="Text 8"/>
          <p:cNvSpPr/>
          <p:nvPr/>
        </p:nvSpPr>
        <p:spPr>
          <a:xfrm>
            <a:off x="6217920" y="2743200"/>
            <a:ext cx="5394960" cy="1371600"/>
          </a:xfrm>
          <a:prstGeom prst="rect">
            <a:avLst/>
          </a:prstGeom>
          <a:noFill/>
          <a:ln/>
        </p:spPr>
        <p:txBody>
          <a:bodyPr wrap="square" rtlCol="0" anchor="ctr"/>
          <a:lstStyle/>
          <a:p>
            <a:pPr algn="ctr" indent="0" marL="0">
              <a:buNone/>
            </a:pPr>
            <a:r>
              <a:rPr lang="en-US" sz="8200" b="1" dirty="0">
                <a:solidFill>
                  <a:srgbClr val="1E2761"/>
                </a:solidFill>
                <a:latin typeface="Yu Gothic UI" pitchFamily="34" charset="0"/>
                <a:ea typeface="Yu Gothic UI" pitchFamily="34" charset="-122"/>
                <a:cs typeface="Yu Gothic UI" pitchFamily="34" charset="-120"/>
              </a:rPr>
              <a:t>約 150</a:t>
            </a:r>
            <a:pPr algn="ctr" indent="0" marL="0">
              <a:buNone/>
            </a:pPr>
            <a:r>
              <a:rPr lang="en-US" sz="2600" b="1" dirty="0">
                <a:solidFill>
                  <a:srgbClr val="1E2761"/>
                </a:solidFill>
                <a:latin typeface="Yu Gothic UI" pitchFamily="34" charset="0"/>
                <a:ea typeface="Yu Gothic UI" pitchFamily="34" charset="-122"/>
                <a:cs typeface="Yu Gothic UI" pitchFamily="34" charset="-120"/>
              </a:rPr>
              <a:t> kg-CO₂</a:t>
            </a:r>
            <a:endParaRPr lang="en-US" sz="8200" dirty="0"/>
          </a:p>
        </p:txBody>
      </p:sp>
      <p:sp>
        <p:nvSpPr>
          <p:cNvPr id="11" name="Text 9"/>
          <p:cNvSpPr/>
          <p:nvPr/>
        </p:nvSpPr>
        <p:spPr>
          <a:xfrm>
            <a:off x="6217920" y="4206240"/>
            <a:ext cx="5394960" cy="457200"/>
          </a:xfrm>
          <a:prstGeom prst="rect">
            <a:avLst/>
          </a:prstGeom>
          <a:noFill/>
          <a:ln/>
        </p:spPr>
        <p:txBody>
          <a:bodyPr wrap="square" rtlCol="0" anchor="ctr"/>
          <a:lstStyle/>
          <a:p>
            <a:pPr algn="ctr" indent="0" marL="0">
              <a:buNone/>
            </a:pPr>
            <a:r>
              <a:rPr lang="en-US" sz="1400" b="1" dirty="0">
                <a:solidFill>
                  <a:srgbClr val="2B2B2B"/>
                </a:solidFill>
                <a:latin typeface="Yu Gothic UI" pitchFamily="34" charset="0"/>
                <a:ea typeface="Yu Gothic UI" pitchFamily="34" charset="-122"/>
                <a:cs typeface="Yu Gothic UI" pitchFamily="34" charset="-120"/>
              </a:rPr>
              <a:t>🌲 杉の木 約11本の年間吸収量に相当</a:t>
            </a:r>
            <a:endParaRPr lang="en-US" sz="1400" dirty="0"/>
          </a:p>
        </p:txBody>
      </p:sp>
      <p:sp>
        <p:nvSpPr>
          <p:cNvPr id="12" name="Shape 10"/>
          <p:cNvSpPr/>
          <p:nvPr/>
        </p:nvSpPr>
        <p:spPr>
          <a:xfrm>
            <a:off x="548640" y="5349240"/>
            <a:ext cx="11064240" cy="731520"/>
          </a:xfrm>
          <a:prstGeom prst="roundRect">
            <a:avLst>
              <a:gd name="adj" fmla="val 12500"/>
            </a:avLst>
          </a:prstGeom>
          <a:solidFill>
            <a:srgbClr val="FFF1EE"/>
          </a:solidFill>
          <a:ln w="12700">
            <a:solidFill>
              <a:srgbClr val="FFF1EE"/>
            </a:solidFill>
            <a:prstDash val="solid"/>
          </a:ln>
        </p:spPr>
      </p:sp>
      <p:sp>
        <p:nvSpPr>
          <p:cNvPr id="13" name="Text 11"/>
          <p:cNvSpPr/>
          <p:nvPr/>
        </p:nvSpPr>
        <p:spPr>
          <a:xfrm>
            <a:off x="548640" y="5349240"/>
            <a:ext cx="11064240" cy="731520"/>
          </a:xfrm>
          <a:prstGeom prst="rect">
            <a:avLst/>
          </a:prstGeom>
          <a:noFill/>
          <a:ln/>
        </p:spPr>
        <p:txBody>
          <a:bodyPr wrap="square" rtlCol="0" anchor="ctr"/>
          <a:lstStyle/>
          <a:p>
            <a:pPr algn="ctr" indent="0" marL="0">
              <a:buNone/>
            </a:pPr>
            <a:r>
              <a:rPr lang="en-US" sz="1600" b="1" dirty="0">
                <a:solidFill>
                  <a:srgbClr val="2B2B2B"/>
                </a:solidFill>
                <a:latin typeface="Yu Gothic UI" pitchFamily="34" charset="0"/>
                <a:ea typeface="Yu Gothic UI" pitchFamily="34" charset="-122"/>
                <a:cs typeface="Yu Gothic UI" pitchFamily="34" charset="-120"/>
              </a:rPr>
              <a:t>すでに削減は始まっています。加盟店と利用者が増えるほど、市全体でのインパクトは大きくなります。</a:t>
            </a:r>
            <a:endParaRPr lang="en-US" sz="1600" dirty="0"/>
          </a:p>
        </p:txBody>
      </p:sp>
      <p:sp>
        <p:nvSpPr>
          <p:cNvPr id="14" name="Text 12"/>
          <p:cNvSpPr/>
          <p:nvPr/>
        </p:nvSpPr>
        <p:spPr>
          <a:xfrm>
            <a:off x="548640" y="6172200"/>
            <a:ext cx="11064240" cy="365760"/>
          </a:xfrm>
          <a:prstGeom prst="rect">
            <a:avLst/>
          </a:prstGeom>
          <a:noFill/>
          <a:ln/>
        </p:spPr>
        <p:txBody>
          <a:bodyPr wrap="square" rtlCol="0" anchor="ctr"/>
          <a:lstStyle/>
          <a:p>
            <a:pPr algn="ctr" indent="0" marL="0">
              <a:buNone/>
            </a:pPr>
            <a:r>
              <a:rPr lang="en-US" sz="1100" i="1" dirty="0">
                <a:solidFill>
                  <a:srgbClr val="666666"/>
                </a:solidFill>
                <a:latin typeface="Yu Gothic UI" pitchFamily="34" charset="0"/>
                <a:ea typeface="Yu Gothic UI" pitchFamily="34" charset="-122"/>
                <a:cs typeface="Yu Gothic UI" pitchFamily="34" charset="-120"/>
              </a:rPr>
              <a:t>※試算値。1袋0.5kg・食品ロス1kg≒2.5kg-CO₂で換算</a:t>
            </a:r>
            <a:endParaRPr lang="en-US" sz="1100" dirty="0"/>
          </a:p>
        </p:txBody>
      </p:sp>
      <p:sp>
        <p:nvSpPr>
          <p:cNvPr id="15" name="Text 13"/>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高槻にゆかりのある、学生8人のチーム</a:t>
            </a:r>
            <a:endParaRPr lang="en-US" sz="3000" dirty="0"/>
          </a:p>
        </p:txBody>
      </p:sp>
      <p:sp>
        <p:nvSpPr>
          <p:cNvPr id="4" name="Shape 2"/>
          <p:cNvSpPr/>
          <p:nvPr/>
        </p:nvSpPr>
        <p:spPr>
          <a:xfrm>
            <a:off x="548640" y="1965960"/>
            <a:ext cx="2651760" cy="1920240"/>
          </a:xfrm>
          <a:prstGeom prst="roundRect">
            <a:avLst>
              <a:gd name="adj" fmla="val 4762"/>
            </a:avLst>
          </a:prstGeom>
          <a:solidFill>
            <a:srgbClr val="F5F5F5"/>
          </a:solidFill>
          <a:ln w="12700">
            <a:solidFill>
              <a:srgbClr val="F5F5F5"/>
            </a:solidFill>
            <a:prstDash val="solid"/>
          </a:ln>
        </p:spPr>
      </p:sp>
      <p:sp>
        <p:nvSpPr>
          <p:cNvPr id="5" name="Shape 3"/>
          <p:cNvSpPr/>
          <p:nvPr/>
        </p:nvSpPr>
        <p:spPr>
          <a:xfrm>
            <a:off x="1554480" y="2103120"/>
            <a:ext cx="640080" cy="640080"/>
          </a:xfrm>
          <a:prstGeom prst="ellipse">
            <a:avLst/>
          </a:prstGeom>
          <a:solidFill>
            <a:srgbClr val="E8786C"/>
          </a:solidFill>
          <a:ln w="12700">
            <a:solidFill>
              <a:srgbClr val="E8786C"/>
            </a:solidFill>
            <a:prstDash val="solid"/>
          </a:ln>
        </p:spPr>
      </p:sp>
      <p:sp>
        <p:nvSpPr>
          <p:cNvPr id="6" name="Text 4"/>
          <p:cNvSpPr/>
          <p:nvPr/>
        </p:nvSpPr>
        <p:spPr>
          <a:xfrm>
            <a:off x="155448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64008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佐藤 勇飛</a:t>
            </a:r>
            <a:endParaRPr lang="en-US" sz="1700" dirty="0"/>
          </a:p>
        </p:txBody>
      </p:sp>
      <p:sp>
        <p:nvSpPr>
          <p:cNvPr id="8" name="Text 6"/>
          <p:cNvSpPr/>
          <p:nvPr/>
        </p:nvSpPr>
        <p:spPr>
          <a:xfrm>
            <a:off x="64008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代表・営業統括</a:t>
            </a:r>
            <a:endParaRPr lang="en-US" sz="1200" dirty="0"/>
          </a:p>
        </p:txBody>
      </p:sp>
      <p:sp>
        <p:nvSpPr>
          <p:cNvPr id="9" name="Text 7"/>
          <p:cNvSpPr/>
          <p:nvPr/>
        </p:nvSpPr>
        <p:spPr>
          <a:xfrm>
            <a:off x="64008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関西大学</a:t>
            </a:r>
            <a:endParaRPr lang="en-US" sz="1000" dirty="0"/>
          </a:p>
        </p:txBody>
      </p:sp>
      <p:sp>
        <p:nvSpPr>
          <p:cNvPr id="10" name="Shape 8"/>
          <p:cNvSpPr/>
          <p:nvPr/>
        </p:nvSpPr>
        <p:spPr>
          <a:xfrm>
            <a:off x="3360420" y="1965960"/>
            <a:ext cx="2651760" cy="1920240"/>
          </a:xfrm>
          <a:prstGeom prst="roundRect">
            <a:avLst>
              <a:gd name="adj" fmla="val 4762"/>
            </a:avLst>
          </a:prstGeom>
          <a:solidFill>
            <a:srgbClr val="F5F5F5"/>
          </a:solidFill>
          <a:ln w="12700">
            <a:solidFill>
              <a:srgbClr val="F5F5F5"/>
            </a:solidFill>
            <a:prstDash val="solid"/>
          </a:ln>
        </p:spPr>
      </p:sp>
      <p:sp>
        <p:nvSpPr>
          <p:cNvPr id="11" name="Shape 9"/>
          <p:cNvSpPr/>
          <p:nvPr/>
        </p:nvSpPr>
        <p:spPr>
          <a:xfrm>
            <a:off x="4366260" y="2103120"/>
            <a:ext cx="640080" cy="640080"/>
          </a:xfrm>
          <a:prstGeom prst="ellipse">
            <a:avLst/>
          </a:prstGeom>
          <a:solidFill>
            <a:srgbClr val="E8786C"/>
          </a:solidFill>
          <a:ln w="12700">
            <a:solidFill>
              <a:srgbClr val="E8786C"/>
            </a:solidFill>
            <a:prstDash val="solid"/>
          </a:ln>
        </p:spPr>
      </p:sp>
      <p:sp>
        <p:nvSpPr>
          <p:cNvPr id="12" name="Text 10"/>
          <p:cNvSpPr/>
          <p:nvPr/>
        </p:nvSpPr>
        <p:spPr>
          <a:xfrm>
            <a:off x="436626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345186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梅本 幸汰</a:t>
            </a:r>
            <a:endParaRPr lang="en-US" sz="1700" dirty="0"/>
          </a:p>
        </p:txBody>
      </p:sp>
      <p:sp>
        <p:nvSpPr>
          <p:cNvPr id="14" name="Text 12"/>
          <p:cNvSpPr/>
          <p:nvPr/>
        </p:nvSpPr>
        <p:spPr>
          <a:xfrm>
            <a:off x="345186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副代表・戦略</a:t>
            </a:r>
            <a:endParaRPr lang="en-US" sz="1200" dirty="0"/>
          </a:p>
        </p:txBody>
      </p:sp>
      <p:sp>
        <p:nvSpPr>
          <p:cNvPr id="15" name="Text 13"/>
          <p:cNvSpPr/>
          <p:nvPr/>
        </p:nvSpPr>
        <p:spPr>
          <a:xfrm>
            <a:off x="345186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関西大学</a:t>
            </a:r>
            <a:endParaRPr lang="en-US" sz="1000" dirty="0"/>
          </a:p>
        </p:txBody>
      </p:sp>
      <p:sp>
        <p:nvSpPr>
          <p:cNvPr id="16" name="Shape 14"/>
          <p:cNvSpPr/>
          <p:nvPr/>
        </p:nvSpPr>
        <p:spPr>
          <a:xfrm>
            <a:off x="6172200" y="1965960"/>
            <a:ext cx="2651760" cy="1920240"/>
          </a:xfrm>
          <a:prstGeom prst="roundRect">
            <a:avLst>
              <a:gd name="adj" fmla="val 4762"/>
            </a:avLst>
          </a:prstGeom>
          <a:solidFill>
            <a:srgbClr val="F5F5F5"/>
          </a:solidFill>
          <a:ln w="12700">
            <a:solidFill>
              <a:srgbClr val="F5F5F5"/>
            </a:solidFill>
            <a:prstDash val="solid"/>
          </a:ln>
        </p:spPr>
      </p:sp>
      <p:sp>
        <p:nvSpPr>
          <p:cNvPr id="17" name="Shape 15"/>
          <p:cNvSpPr/>
          <p:nvPr/>
        </p:nvSpPr>
        <p:spPr>
          <a:xfrm>
            <a:off x="7178040" y="2103120"/>
            <a:ext cx="640080" cy="640080"/>
          </a:xfrm>
          <a:prstGeom prst="ellipse">
            <a:avLst/>
          </a:prstGeom>
          <a:solidFill>
            <a:srgbClr val="E8786C"/>
          </a:solidFill>
          <a:ln w="12700">
            <a:solidFill>
              <a:srgbClr val="E8786C"/>
            </a:solidFill>
            <a:prstDash val="solid"/>
          </a:ln>
        </p:spPr>
      </p:sp>
      <p:sp>
        <p:nvSpPr>
          <p:cNvPr id="18" name="Text 16"/>
          <p:cNvSpPr/>
          <p:nvPr/>
        </p:nvSpPr>
        <p:spPr>
          <a:xfrm>
            <a:off x="717804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626364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吉澤 駿佑</a:t>
            </a:r>
            <a:endParaRPr lang="en-US" sz="1700" dirty="0"/>
          </a:p>
        </p:txBody>
      </p:sp>
      <p:sp>
        <p:nvSpPr>
          <p:cNvPr id="20" name="Text 18"/>
          <p:cNvSpPr/>
          <p:nvPr/>
        </p:nvSpPr>
        <p:spPr>
          <a:xfrm>
            <a:off x="626364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営業・SNS</a:t>
            </a:r>
            <a:endParaRPr lang="en-US" sz="1200" dirty="0"/>
          </a:p>
        </p:txBody>
      </p:sp>
      <p:sp>
        <p:nvSpPr>
          <p:cNvPr id="21" name="Text 19"/>
          <p:cNvSpPr/>
          <p:nvPr/>
        </p:nvSpPr>
        <p:spPr>
          <a:xfrm>
            <a:off x="626364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関西大学</a:t>
            </a:r>
            <a:endParaRPr lang="en-US" sz="1000" dirty="0"/>
          </a:p>
        </p:txBody>
      </p:sp>
      <p:sp>
        <p:nvSpPr>
          <p:cNvPr id="22" name="Shape 20"/>
          <p:cNvSpPr/>
          <p:nvPr/>
        </p:nvSpPr>
        <p:spPr>
          <a:xfrm>
            <a:off x="8983980" y="1965960"/>
            <a:ext cx="2651760" cy="1920240"/>
          </a:xfrm>
          <a:prstGeom prst="roundRect">
            <a:avLst>
              <a:gd name="adj" fmla="val 4762"/>
            </a:avLst>
          </a:prstGeom>
          <a:solidFill>
            <a:srgbClr val="F5F5F5"/>
          </a:solidFill>
          <a:ln w="12700">
            <a:solidFill>
              <a:srgbClr val="F5F5F5"/>
            </a:solidFill>
            <a:prstDash val="solid"/>
          </a:ln>
        </p:spPr>
      </p:sp>
      <p:sp>
        <p:nvSpPr>
          <p:cNvPr id="23" name="Shape 21"/>
          <p:cNvSpPr/>
          <p:nvPr/>
        </p:nvSpPr>
        <p:spPr>
          <a:xfrm>
            <a:off x="9989820" y="2103120"/>
            <a:ext cx="640080" cy="640080"/>
          </a:xfrm>
          <a:prstGeom prst="ellipse">
            <a:avLst/>
          </a:prstGeom>
          <a:solidFill>
            <a:srgbClr val="E8786C"/>
          </a:solidFill>
          <a:ln w="12700">
            <a:solidFill>
              <a:srgbClr val="E8786C"/>
            </a:solidFill>
            <a:prstDash val="solid"/>
          </a:ln>
        </p:spPr>
      </p:sp>
      <p:sp>
        <p:nvSpPr>
          <p:cNvPr id="24" name="Text 22"/>
          <p:cNvSpPr/>
          <p:nvPr/>
        </p:nvSpPr>
        <p:spPr>
          <a:xfrm>
            <a:off x="998982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5" name="Text 23"/>
          <p:cNvSpPr/>
          <p:nvPr/>
        </p:nvSpPr>
        <p:spPr>
          <a:xfrm>
            <a:off x="907542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竹倉 己博</a:t>
            </a:r>
            <a:endParaRPr lang="en-US" sz="1700" dirty="0"/>
          </a:p>
        </p:txBody>
      </p:sp>
      <p:sp>
        <p:nvSpPr>
          <p:cNvPr id="26" name="Text 24"/>
          <p:cNvSpPr/>
          <p:nvPr/>
        </p:nvSpPr>
        <p:spPr>
          <a:xfrm>
            <a:off x="907542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営業統括</a:t>
            </a:r>
            <a:endParaRPr lang="en-US" sz="1200" dirty="0"/>
          </a:p>
        </p:txBody>
      </p:sp>
      <p:sp>
        <p:nvSpPr>
          <p:cNvPr id="27" name="Text 25"/>
          <p:cNvSpPr/>
          <p:nvPr/>
        </p:nvSpPr>
        <p:spPr>
          <a:xfrm>
            <a:off x="907542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立命館大学</a:t>
            </a:r>
            <a:endParaRPr lang="en-US" sz="1000" dirty="0"/>
          </a:p>
        </p:txBody>
      </p:sp>
      <p:sp>
        <p:nvSpPr>
          <p:cNvPr id="28" name="Shape 26"/>
          <p:cNvSpPr/>
          <p:nvPr/>
        </p:nvSpPr>
        <p:spPr>
          <a:xfrm>
            <a:off x="548640" y="4114800"/>
            <a:ext cx="2651760" cy="1920240"/>
          </a:xfrm>
          <a:prstGeom prst="roundRect">
            <a:avLst>
              <a:gd name="adj" fmla="val 4762"/>
            </a:avLst>
          </a:prstGeom>
          <a:solidFill>
            <a:srgbClr val="F5F5F5"/>
          </a:solidFill>
          <a:ln w="12700">
            <a:solidFill>
              <a:srgbClr val="F5F5F5"/>
            </a:solidFill>
            <a:prstDash val="solid"/>
          </a:ln>
        </p:spPr>
      </p:sp>
      <p:sp>
        <p:nvSpPr>
          <p:cNvPr id="29" name="Shape 27"/>
          <p:cNvSpPr/>
          <p:nvPr/>
        </p:nvSpPr>
        <p:spPr>
          <a:xfrm>
            <a:off x="1554480" y="4251960"/>
            <a:ext cx="640080" cy="640080"/>
          </a:xfrm>
          <a:prstGeom prst="ellipse">
            <a:avLst/>
          </a:prstGeom>
          <a:solidFill>
            <a:srgbClr val="E8786C"/>
          </a:solidFill>
          <a:ln w="12700">
            <a:solidFill>
              <a:srgbClr val="E8786C"/>
            </a:solidFill>
            <a:prstDash val="solid"/>
          </a:ln>
        </p:spPr>
      </p:sp>
      <p:sp>
        <p:nvSpPr>
          <p:cNvPr id="30" name="Text 28"/>
          <p:cNvSpPr/>
          <p:nvPr/>
        </p:nvSpPr>
        <p:spPr>
          <a:xfrm>
            <a:off x="155448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1" name="Text 29"/>
          <p:cNvSpPr/>
          <p:nvPr/>
        </p:nvSpPr>
        <p:spPr>
          <a:xfrm>
            <a:off x="64008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関本 達也</a:t>
            </a:r>
            <a:endParaRPr lang="en-US" sz="1700" dirty="0"/>
          </a:p>
        </p:txBody>
      </p:sp>
      <p:sp>
        <p:nvSpPr>
          <p:cNvPr id="32" name="Text 30"/>
          <p:cNvSpPr/>
          <p:nvPr/>
        </p:nvSpPr>
        <p:spPr>
          <a:xfrm>
            <a:off x="64008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開発・営業</a:t>
            </a:r>
            <a:endParaRPr lang="en-US" sz="1200" dirty="0"/>
          </a:p>
        </p:txBody>
      </p:sp>
      <p:sp>
        <p:nvSpPr>
          <p:cNvPr id="33" name="Text 31"/>
          <p:cNvSpPr/>
          <p:nvPr/>
        </p:nvSpPr>
        <p:spPr>
          <a:xfrm>
            <a:off x="64008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34" name="Shape 32"/>
          <p:cNvSpPr/>
          <p:nvPr/>
        </p:nvSpPr>
        <p:spPr>
          <a:xfrm>
            <a:off x="3360420" y="4114800"/>
            <a:ext cx="2651760" cy="1920240"/>
          </a:xfrm>
          <a:prstGeom prst="roundRect">
            <a:avLst>
              <a:gd name="adj" fmla="val 4762"/>
            </a:avLst>
          </a:prstGeom>
          <a:solidFill>
            <a:srgbClr val="F5F5F5"/>
          </a:solidFill>
          <a:ln w="12700">
            <a:solidFill>
              <a:srgbClr val="F5F5F5"/>
            </a:solidFill>
            <a:prstDash val="solid"/>
          </a:ln>
        </p:spPr>
      </p:sp>
      <p:sp>
        <p:nvSpPr>
          <p:cNvPr id="35" name="Shape 33"/>
          <p:cNvSpPr/>
          <p:nvPr/>
        </p:nvSpPr>
        <p:spPr>
          <a:xfrm>
            <a:off x="4366260" y="4251960"/>
            <a:ext cx="640080" cy="640080"/>
          </a:xfrm>
          <a:prstGeom prst="ellipse">
            <a:avLst/>
          </a:prstGeom>
          <a:solidFill>
            <a:srgbClr val="E8786C"/>
          </a:solidFill>
          <a:ln w="12700">
            <a:solidFill>
              <a:srgbClr val="E8786C"/>
            </a:solidFill>
            <a:prstDash val="solid"/>
          </a:ln>
        </p:spPr>
      </p:sp>
      <p:sp>
        <p:nvSpPr>
          <p:cNvPr id="36" name="Text 34"/>
          <p:cNvSpPr/>
          <p:nvPr/>
        </p:nvSpPr>
        <p:spPr>
          <a:xfrm>
            <a:off x="436626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7" name="Text 35"/>
          <p:cNvSpPr/>
          <p:nvPr/>
        </p:nvSpPr>
        <p:spPr>
          <a:xfrm>
            <a:off x="345186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今井 蒼空</a:t>
            </a:r>
            <a:endParaRPr lang="en-US" sz="1700" dirty="0"/>
          </a:p>
        </p:txBody>
      </p:sp>
      <p:sp>
        <p:nvSpPr>
          <p:cNvPr id="38" name="Text 36"/>
          <p:cNvSpPr/>
          <p:nvPr/>
        </p:nvSpPr>
        <p:spPr>
          <a:xfrm>
            <a:off x="345186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営業・SNS戦略</a:t>
            </a:r>
            <a:endParaRPr lang="en-US" sz="1200" dirty="0"/>
          </a:p>
        </p:txBody>
      </p:sp>
      <p:sp>
        <p:nvSpPr>
          <p:cNvPr id="39" name="Text 37"/>
          <p:cNvSpPr/>
          <p:nvPr/>
        </p:nvSpPr>
        <p:spPr>
          <a:xfrm>
            <a:off x="345186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40" name="Shape 38"/>
          <p:cNvSpPr/>
          <p:nvPr/>
        </p:nvSpPr>
        <p:spPr>
          <a:xfrm>
            <a:off x="6172200" y="4114800"/>
            <a:ext cx="2651760" cy="1920240"/>
          </a:xfrm>
          <a:prstGeom prst="roundRect">
            <a:avLst>
              <a:gd name="adj" fmla="val 4762"/>
            </a:avLst>
          </a:prstGeom>
          <a:solidFill>
            <a:srgbClr val="F5F5F5"/>
          </a:solidFill>
          <a:ln w="12700">
            <a:solidFill>
              <a:srgbClr val="F5F5F5"/>
            </a:solidFill>
            <a:prstDash val="solid"/>
          </a:ln>
        </p:spPr>
      </p:sp>
      <p:sp>
        <p:nvSpPr>
          <p:cNvPr id="41" name="Shape 39"/>
          <p:cNvSpPr/>
          <p:nvPr/>
        </p:nvSpPr>
        <p:spPr>
          <a:xfrm>
            <a:off x="7178040" y="4251960"/>
            <a:ext cx="640080" cy="640080"/>
          </a:xfrm>
          <a:prstGeom prst="ellipse">
            <a:avLst/>
          </a:prstGeom>
          <a:solidFill>
            <a:srgbClr val="E8786C"/>
          </a:solidFill>
          <a:ln w="12700">
            <a:solidFill>
              <a:srgbClr val="E8786C"/>
            </a:solidFill>
            <a:prstDash val="solid"/>
          </a:ln>
        </p:spPr>
      </p:sp>
      <p:sp>
        <p:nvSpPr>
          <p:cNvPr id="42" name="Text 40"/>
          <p:cNvSpPr/>
          <p:nvPr/>
        </p:nvSpPr>
        <p:spPr>
          <a:xfrm>
            <a:off x="717804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43" name="Text 41"/>
          <p:cNvSpPr/>
          <p:nvPr/>
        </p:nvSpPr>
        <p:spPr>
          <a:xfrm>
            <a:off x="626364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岡本 ゆうき</a:t>
            </a:r>
            <a:endParaRPr lang="en-US" sz="1700" dirty="0"/>
          </a:p>
        </p:txBody>
      </p:sp>
      <p:sp>
        <p:nvSpPr>
          <p:cNvPr id="44" name="Text 42"/>
          <p:cNvSpPr/>
          <p:nvPr/>
        </p:nvSpPr>
        <p:spPr>
          <a:xfrm>
            <a:off x="626364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a:t>
            </a:r>
            <a:endParaRPr lang="en-US" sz="1200" dirty="0"/>
          </a:p>
        </p:txBody>
      </p:sp>
      <p:sp>
        <p:nvSpPr>
          <p:cNvPr id="45" name="Text 43"/>
          <p:cNvSpPr/>
          <p:nvPr/>
        </p:nvSpPr>
        <p:spPr>
          <a:xfrm>
            <a:off x="626364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46" name="Shape 44"/>
          <p:cNvSpPr/>
          <p:nvPr/>
        </p:nvSpPr>
        <p:spPr>
          <a:xfrm>
            <a:off x="8983980" y="4114800"/>
            <a:ext cx="2651760" cy="1920240"/>
          </a:xfrm>
          <a:prstGeom prst="roundRect">
            <a:avLst>
              <a:gd name="adj" fmla="val 4762"/>
            </a:avLst>
          </a:prstGeom>
          <a:solidFill>
            <a:srgbClr val="F5F5F5"/>
          </a:solidFill>
          <a:ln w="12700">
            <a:solidFill>
              <a:srgbClr val="F5F5F5"/>
            </a:solidFill>
            <a:prstDash val="solid"/>
          </a:ln>
        </p:spPr>
      </p:sp>
      <p:sp>
        <p:nvSpPr>
          <p:cNvPr id="47" name="Shape 45"/>
          <p:cNvSpPr/>
          <p:nvPr/>
        </p:nvSpPr>
        <p:spPr>
          <a:xfrm>
            <a:off x="9989820" y="4251960"/>
            <a:ext cx="640080" cy="640080"/>
          </a:xfrm>
          <a:prstGeom prst="ellipse">
            <a:avLst/>
          </a:prstGeom>
          <a:solidFill>
            <a:srgbClr val="E8786C"/>
          </a:solidFill>
          <a:ln w="12700">
            <a:solidFill>
              <a:srgbClr val="E8786C"/>
            </a:solidFill>
            <a:prstDash val="solid"/>
          </a:ln>
        </p:spPr>
      </p:sp>
      <p:sp>
        <p:nvSpPr>
          <p:cNvPr id="48" name="Text 46"/>
          <p:cNvSpPr/>
          <p:nvPr/>
        </p:nvSpPr>
        <p:spPr>
          <a:xfrm>
            <a:off x="998982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49" name="Text 47"/>
          <p:cNvSpPr/>
          <p:nvPr/>
        </p:nvSpPr>
        <p:spPr>
          <a:xfrm>
            <a:off x="907542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谷川 碧唯</a:t>
            </a:r>
            <a:endParaRPr lang="en-US" sz="1700" dirty="0"/>
          </a:p>
        </p:txBody>
      </p:sp>
      <p:sp>
        <p:nvSpPr>
          <p:cNvPr id="50" name="Text 48"/>
          <p:cNvSpPr/>
          <p:nvPr/>
        </p:nvSpPr>
        <p:spPr>
          <a:xfrm>
            <a:off x="907542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営業・偵察</a:t>
            </a:r>
            <a:endParaRPr lang="en-US" sz="1200" dirty="0"/>
          </a:p>
        </p:txBody>
      </p:sp>
      <p:sp>
        <p:nvSpPr>
          <p:cNvPr id="51" name="Text 49"/>
          <p:cNvSpPr/>
          <p:nvPr/>
        </p:nvSpPr>
        <p:spPr>
          <a:xfrm>
            <a:off x="907542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52" name="Text 50"/>
          <p:cNvSpPr/>
          <p:nvPr/>
        </p:nvSpPr>
        <p:spPr>
          <a:xfrm>
            <a:off x="548640" y="6263640"/>
            <a:ext cx="11064240" cy="320040"/>
          </a:xfrm>
          <a:prstGeom prst="rect">
            <a:avLst/>
          </a:prstGeom>
          <a:noFill/>
          <a:ln/>
        </p:spPr>
        <p:txBody>
          <a:bodyPr wrap="square" rtlCol="0" anchor="ctr"/>
          <a:lstStyle/>
          <a:p>
            <a:pPr algn="ctr" indent="0" marL="0">
              <a:buNone/>
            </a:pPr>
            <a:r>
              <a:rPr lang="en-US" sz="1400" b="1" dirty="0">
                <a:solidFill>
                  <a:srgbClr val="2B2B2B"/>
                </a:solidFill>
                <a:latin typeface="Yu Gothic UI" pitchFamily="34" charset="0"/>
                <a:ea typeface="Yu Gothic UI" pitchFamily="34" charset="-122"/>
                <a:cs typeface="Yu Gothic UI" pitchFamily="34" charset="-120"/>
              </a:rPr>
              <a:t>全員が高槻にゆかりのある学生チーム</a:t>
            </a:r>
            <a:pPr algn="ctr" indent="0" marL="0">
              <a:buNone/>
            </a:pPr>
            <a:r>
              <a:rPr lang="en-US" sz="1300" dirty="0">
                <a:solidFill>
                  <a:srgbClr val="666666"/>
                </a:solidFill>
                <a:latin typeface="Yu Gothic UI" pitchFamily="34" charset="0"/>
                <a:ea typeface="Yu Gothic UI" pitchFamily="34" charset="-122"/>
                <a:cs typeface="Yu Gothic UI" pitchFamily="34" charset="-120"/>
              </a:rPr>
              <a:t>　／　今後の法人化を予定しています</a:t>
            </a:r>
            <a:endParaRPr lang="en-US" sz="1400" dirty="0"/>
          </a:p>
        </p:txBody>
      </p:sp>
      <p:sp>
        <p:nvSpPr>
          <p:cNvPr id="53" name="Text 51"/>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今後の予定</a:t>
            </a:r>
            <a:endParaRPr lang="en-US" sz="3000" dirty="0"/>
          </a:p>
        </p:txBody>
      </p:sp>
      <p:sp>
        <p:nvSpPr>
          <p:cNvPr id="4" name="Shape 2"/>
          <p:cNvSpPr/>
          <p:nvPr/>
        </p:nvSpPr>
        <p:spPr>
          <a:xfrm>
            <a:off x="548640" y="2194560"/>
            <a:ext cx="3566160" cy="4023360"/>
          </a:xfrm>
          <a:prstGeom prst="roundRect">
            <a:avLst>
              <a:gd name="adj" fmla="val 2564"/>
            </a:avLst>
          </a:prstGeom>
          <a:solidFill>
            <a:srgbClr val="FFFFFF"/>
          </a:solidFill>
          <a:ln w="25400">
            <a:solidFill>
              <a:srgbClr val="3FA535"/>
            </a:solidFill>
            <a:prstDash val="solid"/>
          </a:ln>
        </p:spPr>
      </p:sp>
      <p:sp>
        <p:nvSpPr>
          <p:cNvPr id="5" name="Shape 3"/>
          <p:cNvSpPr/>
          <p:nvPr/>
        </p:nvSpPr>
        <p:spPr>
          <a:xfrm>
            <a:off x="548640" y="2194560"/>
            <a:ext cx="3566160" cy="640080"/>
          </a:xfrm>
          <a:prstGeom prst="rect">
            <a:avLst/>
          </a:prstGeom>
          <a:solidFill>
            <a:srgbClr val="3FA535"/>
          </a:solidFill>
          <a:ln w="12700">
            <a:solidFill>
              <a:srgbClr val="3FA535"/>
            </a:solidFill>
            <a:prstDash val="solid"/>
          </a:ln>
        </p:spPr>
      </p:sp>
      <p:sp>
        <p:nvSpPr>
          <p:cNvPr id="6" name="Text 4"/>
          <p:cNvSpPr/>
          <p:nvPr/>
        </p:nvSpPr>
        <p:spPr>
          <a:xfrm>
            <a:off x="548640" y="2194560"/>
            <a:ext cx="3566160" cy="64008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〜7月</a:t>
            </a:r>
            <a:endParaRPr lang="en-US" sz="1800" dirty="0"/>
          </a:p>
        </p:txBody>
      </p:sp>
      <p:sp>
        <p:nvSpPr>
          <p:cNvPr id="7" name="Text 5"/>
          <p:cNvSpPr/>
          <p:nvPr/>
        </p:nvSpPr>
        <p:spPr>
          <a:xfrm>
            <a:off x="548640" y="3017520"/>
            <a:ext cx="3566160" cy="640080"/>
          </a:xfrm>
          <a:prstGeom prst="rect">
            <a:avLst/>
          </a:prstGeom>
          <a:noFill/>
          <a:ln/>
        </p:spPr>
        <p:txBody>
          <a:bodyPr wrap="square" rtlCol="0" anchor="ctr"/>
          <a:lstStyle/>
          <a:p>
            <a:pPr algn="ctr" indent="0" marL="0">
              <a:buNone/>
            </a:pPr>
            <a:r>
              <a:rPr lang="en-US" sz="1500" b="1" dirty="0">
                <a:solidFill>
                  <a:srgbClr val="2B2B2B"/>
                </a:solidFill>
                <a:latin typeface="Yu Gothic UI" pitchFamily="34" charset="0"/>
                <a:ea typeface="Yu Gothic UI" pitchFamily="34" charset="-122"/>
                <a:cs typeface="Yu Gothic UI" pitchFamily="34" charset="-120"/>
              </a:rPr>
              <a:t>✅ ローンチ・運用開始</a:t>
            </a:r>
            <a:endParaRPr lang="en-US" sz="1500" dirty="0"/>
          </a:p>
        </p:txBody>
      </p:sp>
      <p:sp>
        <p:nvSpPr>
          <p:cNvPr id="8" name="Text 6"/>
          <p:cNvSpPr/>
          <p:nvPr/>
        </p:nvSpPr>
        <p:spPr>
          <a:xfrm>
            <a:off x="822960" y="3840480"/>
            <a:ext cx="3017520" cy="2194560"/>
          </a:xfrm>
          <a:prstGeom prst="rect">
            <a:avLst/>
          </a:prstGeom>
          <a:noFill/>
          <a:ln/>
        </p:spPr>
        <p:txBody>
          <a:bodyPr wrap="square" rtlCol="0" anchor="ctr"/>
          <a:lstStyle/>
          <a:p>
            <a:pPr indent="0" marL="0">
              <a:buNone/>
            </a:pPr>
            <a:r>
              <a:rPr lang="en-US" sz="1200" dirty="0">
                <a:solidFill>
                  <a:srgbClr val="2B2B2B"/>
                </a:solidFill>
                <a:latin typeface="Yu Gothic UI" pitchFamily="34" charset="0"/>
                <a:ea typeface="Yu Gothic UI" pitchFamily="34" charset="-122"/>
                <a:cs typeface="Yu Gothic UI" pitchFamily="34" charset="-120"/>
              </a:rPr>
              <a:t>・iOSアプリ公開</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・出品／取引スタート</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・加盟店27店を承認</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・累計119袋を救出</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・行政との対話を開始</a:t>
            </a:r>
            <a:endParaRPr lang="en-US" sz="1200" dirty="0"/>
          </a:p>
        </p:txBody>
      </p:sp>
      <p:sp>
        <p:nvSpPr>
          <p:cNvPr id="9" name="Shape 7"/>
          <p:cNvSpPr/>
          <p:nvPr/>
        </p:nvSpPr>
        <p:spPr>
          <a:xfrm>
            <a:off x="4297680" y="2194560"/>
            <a:ext cx="3566160" cy="4023360"/>
          </a:xfrm>
          <a:prstGeom prst="roundRect">
            <a:avLst>
              <a:gd name="adj" fmla="val 2564"/>
            </a:avLst>
          </a:prstGeom>
          <a:solidFill>
            <a:srgbClr val="FFFFFF"/>
          </a:solidFill>
          <a:ln w="25400">
            <a:solidFill>
              <a:srgbClr val="E8786C"/>
            </a:solidFill>
            <a:prstDash val="solid"/>
          </a:ln>
        </p:spPr>
      </p:sp>
      <p:sp>
        <p:nvSpPr>
          <p:cNvPr id="10" name="Shape 8"/>
          <p:cNvSpPr/>
          <p:nvPr/>
        </p:nvSpPr>
        <p:spPr>
          <a:xfrm>
            <a:off x="4297680" y="2194560"/>
            <a:ext cx="3566160" cy="640080"/>
          </a:xfrm>
          <a:prstGeom prst="rect">
            <a:avLst/>
          </a:prstGeom>
          <a:solidFill>
            <a:srgbClr val="E8786C"/>
          </a:solidFill>
          <a:ln w="12700">
            <a:solidFill>
              <a:srgbClr val="E8786C"/>
            </a:solidFill>
            <a:prstDash val="solid"/>
          </a:ln>
        </p:spPr>
      </p:sp>
      <p:sp>
        <p:nvSpPr>
          <p:cNvPr id="11" name="Text 9"/>
          <p:cNvSpPr/>
          <p:nvPr/>
        </p:nvSpPr>
        <p:spPr>
          <a:xfrm>
            <a:off x="4297680" y="2194560"/>
            <a:ext cx="3566160" cy="64008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今（拡大期）</a:t>
            </a:r>
            <a:endParaRPr lang="en-US" sz="1800" dirty="0"/>
          </a:p>
        </p:txBody>
      </p:sp>
      <p:sp>
        <p:nvSpPr>
          <p:cNvPr id="12" name="Text 10"/>
          <p:cNvSpPr/>
          <p:nvPr/>
        </p:nvSpPr>
        <p:spPr>
          <a:xfrm>
            <a:off x="4297680" y="3017520"/>
            <a:ext cx="3566160" cy="640080"/>
          </a:xfrm>
          <a:prstGeom prst="rect">
            <a:avLst/>
          </a:prstGeom>
          <a:noFill/>
          <a:ln/>
        </p:spPr>
        <p:txBody>
          <a:bodyPr wrap="square" rtlCol="0" anchor="ctr"/>
          <a:lstStyle/>
          <a:p>
            <a:pPr algn="ctr" indent="0" marL="0">
              <a:buNone/>
            </a:pPr>
            <a:r>
              <a:rPr lang="en-US" sz="1500" b="1" dirty="0">
                <a:solidFill>
                  <a:srgbClr val="2B2B2B"/>
                </a:solidFill>
                <a:latin typeface="Yu Gothic UI" pitchFamily="34" charset="0"/>
                <a:ea typeface="Yu Gothic UI" pitchFamily="34" charset="-122"/>
                <a:cs typeface="Yu Gothic UI" pitchFamily="34" charset="-120"/>
              </a:rPr>
              <a:t>🚀 供給・利用者の拡大</a:t>
            </a:r>
            <a:endParaRPr lang="en-US" sz="1500" dirty="0"/>
          </a:p>
        </p:txBody>
      </p:sp>
      <p:sp>
        <p:nvSpPr>
          <p:cNvPr id="13" name="Text 11"/>
          <p:cNvSpPr/>
          <p:nvPr/>
        </p:nvSpPr>
        <p:spPr>
          <a:xfrm>
            <a:off x="4572000" y="3840480"/>
            <a:ext cx="3017520" cy="2194560"/>
          </a:xfrm>
          <a:prstGeom prst="rect">
            <a:avLst/>
          </a:prstGeom>
          <a:noFill/>
          <a:ln/>
        </p:spPr>
        <p:txBody>
          <a:bodyPr wrap="square" rtlCol="0" anchor="ctr"/>
          <a:lstStyle/>
          <a:p>
            <a:pPr indent="0" marL="0">
              <a:buNone/>
            </a:pPr>
            <a:r>
              <a:rPr lang="en-US" sz="1200" dirty="0">
                <a:solidFill>
                  <a:srgbClr val="2B2B2B"/>
                </a:solidFill>
                <a:latin typeface="Yu Gothic UI" pitchFamily="34" charset="0"/>
                <a:ea typeface="Yu Gothic UI" pitchFamily="34" charset="-122"/>
                <a:cs typeface="Yu Gothic UI" pitchFamily="34" charset="-120"/>
              </a:rPr>
              <a:t>・加盟店の出品率UP</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・高槻市内の店舗拡大</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・利用者の獲得</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・店舗サポートの強化</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・行政連携の具体化</a:t>
            </a:r>
            <a:endParaRPr lang="en-US" sz="1200" dirty="0"/>
          </a:p>
        </p:txBody>
      </p:sp>
      <p:sp>
        <p:nvSpPr>
          <p:cNvPr id="14" name="Shape 12"/>
          <p:cNvSpPr/>
          <p:nvPr/>
        </p:nvSpPr>
        <p:spPr>
          <a:xfrm>
            <a:off x="8046720" y="2194560"/>
            <a:ext cx="3566160" cy="4023360"/>
          </a:xfrm>
          <a:prstGeom prst="roundRect">
            <a:avLst>
              <a:gd name="adj" fmla="val 2564"/>
            </a:avLst>
          </a:prstGeom>
          <a:solidFill>
            <a:srgbClr val="FFFFFF"/>
          </a:solidFill>
          <a:ln w="25400">
            <a:solidFill>
              <a:srgbClr val="1E2761"/>
            </a:solidFill>
            <a:prstDash val="solid"/>
          </a:ln>
        </p:spPr>
      </p:sp>
      <p:sp>
        <p:nvSpPr>
          <p:cNvPr id="15" name="Shape 13"/>
          <p:cNvSpPr/>
          <p:nvPr/>
        </p:nvSpPr>
        <p:spPr>
          <a:xfrm>
            <a:off x="8046720" y="2194560"/>
            <a:ext cx="3566160" cy="640080"/>
          </a:xfrm>
          <a:prstGeom prst="rect">
            <a:avLst/>
          </a:prstGeom>
          <a:solidFill>
            <a:srgbClr val="1E2761"/>
          </a:solidFill>
          <a:ln w="12700">
            <a:solidFill>
              <a:srgbClr val="1E2761"/>
            </a:solidFill>
            <a:prstDash val="solid"/>
          </a:ln>
        </p:spPr>
      </p:sp>
      <p:sp>
        <p:nvSpPr>
          <p:cNvPr id="16" name="Text 14"/>
          <p:cNvSpPr/>
          <p:nvPr/>
        </p:nvSpPr>
        <p:spPr>
          <a:xfrm>
            <a:off x="8046720" y="2194560"/>
            <a:ext cx="3566160" cy="64008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今後</a:t>
            </a:r>
            <a:endParaRPr lang="en-US" sz="1800" dirty="0"/>
          </a:p>
        </p:txBody>
      </p:sp>
      <p:sp>
        <p:nvSpPr>
          <p:cNvPr id="17" name="Text 15"/>
          <p:cNvSpPr/>
          <p:nvPr/>
        </p:nvSpPr>
        <p:spPr>
          <a:xfrm>
            <a:off x="8046720" y="3017520"/>
            <a:ext cx="3566160" cy="640080"/>
          </a:xfrm>
          <a:prstGeom prst="rect">
            <a:avLst/>
          </a:prstGeom>
          <a:noFill/>
          <a:ln/>
        </p:spPr>
        <p:txBody>
          <a:bodyPr wrap="square" rtlCol="0" anchor="ctr"/>
          <a:lstStyle/>
          <a:p>
            <a:pPr algn="ctr" indent="0" marL="0">
              <a:buNone/>
            </a:pPr>
            <a:r>
              <a:rPr lang="en-US" sz="1500" b="1" dirty="0">
                <a:solidFill>
                  <a:srgbClr val="2B2B2B"/>
                </a:solidFill>
                <a:latin typeface="Yu Gothic UI" pitchFamily="34" charset="0"/>
                <a:ea typeface="Yu Gothic UI" pitchFamily="34" charset="-122"/>
                <a:cs typeface="Yu Gothic UI" pitchFamily="34" charset="-120"/>
              </a:rPr>
              <a:t>北摂へ拡大・法人化</a:t>
            </a:r>
            <a:endParaRPr lang="en-US" sz="1500" dirty="0"/>
          </a:p>
        </p:txBody>
      </p:sp>
      <p:sp>
        <p:nvSpPr>
          <p:cNvPr id="18" name="Text 16"/>
          <p:cNvSpPr/>
          <p:nvPr/>
        </p:nvSpPr>
        <p:spPr>
          <a:xfrm>
            <a:off x="8321040" y="3840480"/>
            <a:ext cx="3017520" cy="2194560"/>
          </a:xfrm>
          <a:prstGeom prst="rect">
            <a:avLst/>
          </a:prstGeom>
          <a:noFill/>
          <a:ln/>
        </p:spPr>
        <p:txBody>
          <a:bodyPr wrap="square" rtlCol="0" anchor="ctr"/>
          <a:lstStyle/>
          <a:p>
            <a:pPr indent="0" marL="0">
              <a:buNone/>
            </a:pPr>
            <a:r>
              <a:rPr lang="en-US" sz="1200" dirty="0">
                <a:solidFill>
                  <a:srgbClr val="2B2B2B"/>
                </a:solidFill>
                <a:latin typeface="Yu Gothic UI" pitchFamily="34" charset="0"/>
                <a:ea typeface="Yu Gothic UI" pitchFamily="34" charset="-122"/>
                <a:cs typeface="Yu Gothic UI" pitchFamily="34" charset="-120"/>
              </a:rPr>
              <a:t>・茨木・吹田・摂津へ</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・他自治体との連携</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・法人化</a:t>
            </a:r>
            <a:endParaRPr lang="en-US" sz="1200" dirty="0"/>
          </a:p>
        </p:txBody>
      </p:sp>
      <p:sp>
        <p:nvSpPr>
          <p:cNvPr id="19"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3FA535"/>
          </a:solidFill>
          <a:ln w="12700">
            <a:solidFill>
              <a:srgbClr val="3FA535"/>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高槻市への貢献</a:t>
            </a:r>
            <a:endParaRPr lang="en-US" sz="3000" dirty="0"/>
          </a:p>
        </p:txBody>
      </p:sp>
      <p:sp>
        <p:nvSpPr>
          <p:cNvPr id="4" name="Shape 2"/>
          <p:cNvSpPr/>
          <p:nvPr/>
        </p:nvSpPr>
        <p:spPr>
          <a:xfrm>
            <a:off x="548640" y="1810512"/>
            <a:ext cx="11064240" cy="1078992"/>
          </a:xfrm>
          <a:prstGeom prst="roundRect">
            <a:avLst>
              <a:gd name="adj" fmla="val 10169"/>
            </a:avLst>
          </a:prstGeom>
          <a:solidFill>
            <a:srgbClr val="E8F5E5"/>
          </a:solidFill>
          <a:ln w="12700">
            <a:solidFill>
              <a:srgbClr val="3FA535"/>
            </a:solidFill>
            <a:prstDash val="solid"/>
          </a:ln>
        </p:spPr>
      </p:sp>
      <p:sp>
        <p:nvSpPr>
          <p:cNvPr id="5" name="Text 3"/>
          <p:cNvSpPr/>
          <p:nvPr/>
        </p:nvSpPr>
        <p:spPr>
          <a:xfrm>
            <a:off x="731520" y="1920240"/>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6" name="Text 4"/>
          <p:cNvSpPr/>
          <p:nvPr/>
        </p:nvSpPr>
        <p:spPr>
          <a:xfrm>
            <a:off x="1828800" y="1901952"/>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市の計画目標の達成に、直接貢献します</a:t>
            </a:r>
            <a:endParaRPr lang="en-US" sz="1600" dirty="0"/>
          </a:p>
        </p:txBody>
      </p:sp>
      <p:sp>
        <p:nvSpPr>
          <p:cNvPr id="7" name="Text 5"/>
          <p:cNvSpPr/>
          <p:nvPr/>
        </p:nvSpPr>
        <p:spPr>
          <a:xfrm>
            <a:off x="1828800" y="2286000"/>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策定中の一般廃棄物処理基本計画が掲げる食品ロス削減に直結。削減量・成約数・店舗還元額を月次レポートでご提供し、市の進捗管理にそのままお使いいただけます。</a:t>
            </a:r>
            <a:endParaRPr lang="en-US" sz="1100" dirty="0"/>
          </a:p>
        </p:txBody>
      </p:sp>
      <p:sp>
        <p:nvSpPr>
          <p:cNvPr id="8" name="Shape 6"/>
          <p:cNvSpPr/>
          <p:nvPr/>
        </p:nvSpPr>
        <p:spPr>
          <a:xfrm>
            <a:off x="548640" y="2971800"/>
            <a:ext cx="11064240" cy="1078992"/>
          </a:xfrm>
          <a:prstGeom prst="roundRect">
            <a:avLst>
              <a:gd name="adj" fmla="val 10169"/>
            </a:avLst>
          </a:prstGeom>
          <a:solidFill>
            <a:srgbClr val="E8F5E5"/>
          </a:solidFill>
          <a:ln w="12700">
            <a:solidFill>
              <a:srgbClr val="3FA535"/>
            </a:solidFill>
            <a:prstDash val="solid"/>
          </a:ln>
        </p:spPr>
      </p:sp>
      <p:sp>
        <p:nvSpPr>
          <p:cNvPr id="9" name="Text 7"/>
          <p:cNvSpPr/>
          <p:nvPr/>
        </p:nvSpPr>
        <p:spPr>
          <a:xfrm>
            <a:off x="731520" y="3081528"/>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0" name="Text 8"/>
          <p:cNvSpPr/>
          <p:nvPr/>
        </p:nvSpPr>
        <p:spPr>
          <a:xfrm>
            <a:off x="1828800" y="3063240"/>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市内の事業者と家庭を、同時に支えます</a:t>
            </a:r>
            <a:endParaRPr lang="en-US" sz="1600" dirty="0"/>
          </a:p>
        </p:txBody>
      </p:sp>
      <p:sp>
        <p:nvSpPr>
          <p:cNvPr id="11" name="Text 9"/>
          <p:cNvSpPr/>
          <p:nvPr/>
        </p:nvSpPr>
        <p:spPr>
          <a:xfrm>
            <a:off x="1828800" y="3447288"/>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お店の廃棄ロスを直接減らして売上に変え、市民はお得に買い支える。市内事業者の経営支援と家庭の食費負担軽減が、同時に進みます。</a:t>
            </a:r>
            <a:endParaRPr lang="en-US" sz="1100" dirty="0"/>
          </a:p>
        </p:txBody>
      </p:sp>
      <p:sp>
        <p:nvSpPr>
          <p:cNvPr id="12" name="Shape 10"/>
          <p:cNvSpPr/>
          <p:nvPr/>
        </p:nvSpPr>
        <p:spPr>
          <a:xfrm>
            <a:off x="548640" y="4133088"/>
            <a:ext cx="11064240" cy="1078992"/>
          </a:xfrm>
          <a:prstGeom prst="roundRect">
            <a:avLst>
              <a:gd name="adj" fmla="val 10169"/>
            </a:avLst>
          </a:prstGeom>
          <a:solidFill>
            <a:srgbClr val="E8F5E5"/>
          </a:solidFill>
          <a:ln w="12700">
            <a:solidFill>
              <a:srgbClr val="3FA535"/>
            </a:solidFill>
            <a:prstDash val="solid"/>
          </a:ln>
        </p:spPr>
      </p:sp>
      <p:sp>
        <p:nvSpPr>
          <p:cNvPr id="13" name="Text 11"/>
          <p:cNvSpPr/>
          <p:nvPr/>
        </p:nvSpPr>
        <p:spPr>
          <a:xfrm>
            <a:off x="731520" y="4242816"/>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4" name="Text 12"/>
          <p:cNvSpPr/>
          <p:nvPr/>
        </p:nvSpPr>
        <p:spPr>
          <a:xfrm>
            <a:off x="1828800" y="4224528"/>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地域メディアと連携し、市内に情報が広がっています</a:t>
            </a:r>
            <a:endParaRPr lang="en-US" sz="1600" dirty="0"/>
          </a:p>
        </p:txBody>
      </p:sp>
      <p:sp>
        <p:nvSpPr>
          <p:cNvPr id="15" name="Text 13"/>
          <p:cNvSpPr/>
          <p:nvPr/>
        </p:nvSpPr>
        <p:spPr>
          <a:xfrm>
            <a:off x="1828800" y="4608576"/>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高槻の地域情報ポータル『まちポケ高槻』（takatsuki.machipoke.com）に、おすそわけの出品中商品がリアルタイムで掲載されています。アプリの外にも“今日おトクに買える地元の食品”が届く導線ができています。</a:t>
            </a:r>
            <a:endParaRPr lang="en-US" sz="1100" dirty="0"/>
          </a:p>
        </p:txBody>
      </p:sp>
      <p:sp>
        <p:nvSpPr>
          <p:cNvPr id="16" name="Shape 14"/>
          <p:cNvSpPr/>
          <p:nvPr/>
        </p:nvSpPr>
        <p:spPr>
          <a:xfrm>
            <a:off x="548640" y="5294376"/>
            <a:ext cx="11064240" cy="1078992"/>
          </a:xfrm>
          <a:prstGeom prst="roundRect">
            <a:avLst>
              <a:gd name="adj" fmla="val 10169"/>
            </a:avLst>
          </a:prstGeom>
          <a:solidFill>
            <a:srgbClr val="E8F5E5"/>
          </a:solidFill>
          <a:ln w="12700">
            <a:solidFill>
              <a:srgbClr val="3FA535"/>
            </a:solidFill>
            <a:prstDash val="solid"/>
          </a:ln>
        </p:spPr>
      </p:sp>
      <p:sp>
        <p:nvSpPr>
          <p:cNvPr id="17" name="Text 15"/>
          <p:cNvSpPr/>
          <p:nvPr/>
        </p:nvSpPr>
        <p:spPr>
          <a:xfrm>
            <a:off x="731520" y="5404104"/>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8" name="Text 16"/>
          <p:cNvSpPr/>
          <p:nvPr/>
        </p:nvSpPr>
        <p:spPr>
          <a:xfrm>
            <a:off x="1828800" y="5385816"/>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「地元の学生を応援する市」として、SDGs実績を発信できます</a:t>
            </a:r>
            <a:endParaRPr lang="en-US" sz="1600" dirty="0"/>
          </a:p>
        </p:txBody>
      </p:sp>
      <p:sp>
        <p:nvSpPr>
          <p:cNvPr id="19" name="Text 17"/>
          <p:cNvSpPr/>
          <p:nvPr/>
        </p:nvSpPr>
        <p:spPr>
          <a:xfrm>
            <a:off x="1828800" y="5769864"/>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高槻にゆかりのある学生8人が地元課題に挑む取り組みです。市の広報・議会・対外PRで、若者支援とSDGsの両方の実績としてご活用いただけます。財政負担なしで進みます。</a:t>
            </a:r>
            <a:endParaRPr lang="en-US" sz="1100" dirty="0"/>
          </a:p>
        </p:txBody>
      </p:sp>
      <p:sp>
        <p:nvSpPr>
          <p:cNvPr id="20" name="Text 18"/>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高槻市副市長へ、お願いしたいこと。</a:t>
            </a:r>
            <a:endParaRPr lang="en-US" sz="3000" dirty="0"/>
          </a:p>
        </p:txBody>
      </p:sp>
      <p:sp>
        <p:nvSpPr>
          <p:cNvPr id="4" name="Shape 2"/>
          <p:cNvSpPr/>
          <p:nvPr/>
        </p:nvSpPr>
        <p:spPr>
          <a:xfrm>
            <a:off x="548640" y="1892808"/>
            <a:ext cx="11064240" cy="1417320"/>
          </a:xfrm>
          <a:prstGeom prst="roundRect">
            <a:avLst>
              <a:gd name="adj" fmla="val 7742"/>
            </a:avLst>
          </a:prstGeom>
          <a:solidFill>
            <a:srgbClr val="FFF1EE"/>
          </a:solidFill>
          <a:ln w="31750">
            <a:solidFill>
              <a:srgbClr val="E8786C"/>
            </a:solidFill>
            <a:prstDash val="solid"/>
          </a:ln>
        </p:spPr>
      </p:sp>
      <p:sp>
        <p:nvSpPr>
          <p:cNvPr id="5" name="Shape 3"/>
          <p:cNvSpPr/>
          <p:nvPr/>
        </p:nvSpPr>
        <p:spPr>
          <a:xfrm>
            <a:off x="777240" y="2057400"/>
            <a:ext cx="1051560" cy="1051560"/>
          </a:xfrm>
          <a:prstGeom prst="ellipse">
            <a:avLst/>
          </a:prstGeom>
          <a:solidFill>
            <a:srgbClr val="E8786C"/>
          </a:solidFill>
          <a:ln w="12700">
            <a:solidFill>
              <a:srgbClr val="E8786C"/>
            </a:solidFill>
            <a:prstDash val="solid"/>
          </a:ln>
        </p:spPr>
      </p:sp>
      <p:sp>
        <p:nvSpPr>
          <p:cNvPr id="6" name="Text 4"/>
          <p:cNvSpPr/>
          <p:nvPr/>
        </p:nvSpPr>
        <p:spPr>
          <a:xfrm>
            <a:off x="777240" y="2057400"/>
            <a:ext cx="1051560" cy="1051560"/>
          </a:xfrm>
          <a:prstGeom prst="rect">
            <a:avLst/>
          </a:prstGeom>
          <a:noFill/>
          <a:ln/>
        </p:spPr>
        <p:txBody>
          <a:bodyPr wrap="square" rtlCol="0" anchor="ctr"/>
          <a:lstStyle/>
          <a:p>
            <a:pPr algn="ctr" indent="0" marL="0">
              <a:buNone/>
            </a:pPr>
            <a:r>
              <a:rPr lang="en-US" sz="2700" b="1" dirty="0">
                <a:solidFill>
                  <a:srgbClr val="FFFFFF"/>
                </a:solidFill>
                <a:latin typeface="Yu Gothic UI" pitchFamily="34" charset="0"/>
                <a:ea typeface="Yu Gothic UI" pitchFamily="34" charset="-122"/>
                <a:cs typeface="Yu Gothic UI" pitchFamily="34" charset="-120"/>
              </a:rPr>
              <a:t>01</a:t>
            </a:r>
            <a:endParaRPr lang="en-US" sz="2700" dirty="0"/>
          </a:p>
        </p:txBody>
      </p:sp>
      <p:sp>
        <p:nvSpPr>
          <p:cNvPr id="7" name="Text 5"/>
          <p:cNvSpPr/>
          <p:nvPr/>
        </p:nvSpPr>
        <p:spPr>
          <a:xfrm>
            <a:off x="2103120" y="2039112"/>
            <a:ext cx="9418320" cy="502920"/>
          </a:xfrm>
          <a:prstGeom prst="rect">
            <a:avLst/>
          </a:prstGeom>
          <a:noFill/>
          <a:ln/>
        </p:spPr>
        <p:txBody>
          <a:bodyPr wrap="square" rtlCol="0" anchor="ctr"/>
          <a:lstStyle/>
          <a:p>
            <a:pPr indent="0" marL="0">
              <a:buNone/>
            </a:pPr>
            <a:r>
              <a:rPr lang="en-US" sz="2000" b="1" dirty="0">
                <a:solidFill>
                  <a:srgbClr val="E8786C"/>
                </a:solidFill>
                <a:latin typeface="Yu Gothic UI" pitchFamily="34" charset="0"/>
                <a:ea typeface="Yu Gothic UI" pitchFamily="34" charset="-122"/>
                <a:cs typeface="Yu Gothic UI" pitchFamily="34" charset="-120"/>
              </a:rPr>
              <a:t>資源循環推進課との実務連携</a:t>
            </a:r>
            <a:endParaRPr lang="en-US" sz="2000" dirty="0"/>
          </a:p>
        </p:txBody>
      </p:sp>
      <p:sp>
        <p:nvSpPr>
          <p:cNvPr id="8" name="Text 6"/>
          <p:cNvSpPr/>
          <p:nvPr/>
        </p:nvSpPr>
        <p:spPr>
          <a:xfrm>
            <a:off x="2103120" y="2560320"/>
            <a:ext cx="9418320" cy="548640"/>
          </a:xfrm>
          <a:prstGeom prst="rect">
            <a:avLst/>
          </a:prstGeom>
          <a:noFill/>
          <a:ln/>
        </p:spPr>
        <p:txBody>
          <a:bodyPr wrap="square" rtlCol="0" anchor="ctr"/>
          <a:lstStyle/>
          <a:p>
            <a:pPr indent="0" marL="0">
              <a:buNone/>
            </a:pPr>
            <a:r>
              <a:rPr lang="en-US" sz="1300" dirty="0">
                <a:solidFill>
                  <a:srgbClr val="2B2B2B"/>
                </a:solidFill>
                <a:latin typeface="Yu Gothic UI" pitchFamily="34" charset="0"/>
                <a:ea typeface="Yu Gothic UI" pitchFamily="34" charset="-122"/>
                <a:cs typeface="Yu Gothic UI" pitchFamily="34" charset="-120"/>
              </a:rPr>
              <a:t>具体的な連携内容を詰める打ち合わせの場をいただけますと幸いです</a:t>
            </a:r>
            <a:endParaRPr lang="en-US" sz="1300" dirty="0"/>
          </a:p>
        </p:txBody>
      </p:sp>
      <p:sp>
        <p:nvSpPr>
          <p:cNvPr id="9" name="Shape 7"/>
          <p:cNvSpPr/>
          <p:nvPr/>
        </p:nvSpPr>
        <p:spPr>
          <a:xfrm>
            <a:off x="777240" y="3355848"/>
            <a:ext cx="1051560" cy="1051560"/>
          </a:xfrm>
          <a:prstGeom prst="ellipse">
            <a:avLst/>
          </a:prstGeom>
          <a:solidFill>
            <a:srgbClr val="E8786C"/>
          </a:solidFill>
          <a:ln w="12700">
            <a:solidFill>
              <a:srgbClr val="E8786C"/>
            </a:solidFill>
            <a:prstDash val="solid"/>
          </a:ln>
        </p:spPr>
      </p:sp>
      <p:sp>
        <p:nvSpPr>
          <p:cNvPr id="10" name="Text 8"/>
          <p:cNvSpPr/>
          <p:nvPr/>
        </p:nvSpPr>
        <p:spPr>
          <a:xfrm>
            <a:off x="777240" y="3355848"/>
            <a:ext cx="1051560" cy="1051560"/>
          </a:xfrm>
          <a:prstGeom prst="rect">
            <a:avLst/>
          </a:prstGeom>
          <a:noFill/>
          <a:ln/>
        </p:spPr>
        <p:txBody>
          <a:bodyPr wrap="square" rtlCol="0" anchor="ctr"/>
          <a:lstStyle/>
          <a:p>
            <a:pPr algn="ctr" indent="0" marL="0">
              <a:buNone/>
            </a:pPr>
            <a:r>
              <a:rPr lang="en-US" sz="2700" b="1" dirty="0">
                <a:solidFill>
                  <a:srgbClr val="FFFFFF"/>
                </a:solidFill>
                <a:latin typeface="Yu Gothic UI" pitchFamily="34" charset="0"/>
                <a:ea typeface="Yu Gothic UI" pitchFamily="34" charset="-122"/>
                <a:cs typeface="Yu Gothic UI" pitchFamily="34" charset="-120"/>
              </a:rPr>
              <a:t>02</a:t>
            </a:r>
            <a:endParaRPr lang="en-US" sz="2700" dirty="0"/>
          </a:p>
        </p:txBody>
      </p:sp>
      <p:sp>
        <p:nvSpPr>
          <p:cNvPr id="11" name="Text 9"/>
          <p:cNvSpPr/>
          <p:nvPr/>
        </p:nvSpPr>
        <p:spPr>
          <a:xfrm>
            <a:off x="2103120" y="3337560"/>
            <a:ext cx="9418320" cy="502920"/>
          </a:xfrm>
          <a:prstGeom prst="rect">
            <a:avLst/>
          </a:prstGeom>
          <a:noFill/>
          <a:ln/>
        </p:spPr>
        <p:txBody>
          <a:bodyPr wrap="square" rtlCol="0" anchor="ctr"/>
          <a:lstStyle/>
          <a:p>
            <a:pPr indent="0" marL="0">
              <a:buNone/>
            </a:pPr>
            <a:r>
              <a:rPr lang="en-US" sz="1800" b="1" dirty="0">
                <a:solidFill>
                  <a:srgbClr val="2B2B2B"/>
                </a:solidFill>
                <a:latin typeface="Yu Gothic UI" pitchFamily="34" charset="0"/>
                <a:ea typeface="Yu Gothic UI" pitchFamily="34" charset="-122"/>
                <a:cs typeface="Yu Gothic UI" pitchFamily="34" charset="-120"/>
              </a:rPr>
              <a:t>庁内調整のお力添え</a:t>
            </a:r>
            <a:endParaRPr lang="en-US" sz="1800" dirty="0"/>
          </a:p>
        </p:txBody>
      </p:sp>
      <p:sp>
        <p:nvSpPr>
          <p:cNvPr id="12" name="Text 10"/>
          <p:cNvSpPr/>
          <p:nvPr/>
        </p:nvSpPr>
        <p:spPr>
          <a:xfrm>
            <a:off x="2103120" y="3858768"/>
            <a:ext cx="9418320" cy="54864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環境部・地域経済振興室など関係課をまたぐ調整に、お力添えいただけますと幸いです</a:t>
            </a:r>
            <a:endParaRPr lang="en-US" sz="1300" dirty="0"/>
          </a:p>
        </p:txBody>
      </p:sp>
      <p:sp>
        <p:nvSpPr>
          <p:cNvPr id="13" name="Shape 11"/>
          <p:cNvSpPr/>
          <p:nvPr/>
        </p:nvSpPr>
        <p:spPr>
          <a:xfrm>
            <a:off x="2103120" y="4453128"/>
            <a:ext cx="9418320" cy="18288"/>
          </a:xfrm>
          <a:prstGeom prst="rect">
            <a:avLst/>
          </a:prstGeom>
          <a:solidFill>
            <a:srgbClr val="F5F5F5"/>
          </a:solidFill>
          <a:ln/>
        </p:spPr>
      </p:sp>
      <p:sp>
        <p:nvSpPr>
          <p:cNvPr id="14" name="Shape 12"/>
          <p:cNvSpPr/>
          <p:nvPr/>
        </p:nvSpPr>
        <p:spPr>
          <a:xfrm>
            <a:off x="777240" y="4654296"/>
            <a:ext cx="1051560" cy="1051560"/>
          </a:xfrm>
          <a:prstGeom prst="ellipse">
            <a:avLst/>
          </a:prstGeom>
          <a:solidFill>
            <a:srgbClr val="E8786C"/>
          </a:solidFill>
          <a:ln w="12700">
            <a:solidFill>
              <a:srgbClr val="E8786C"/>
            </a:solidFill>
            <a:prstDash val="solid"/>
          </a:ln>
        </p:spPr>
      </p:sp>
      <p:sp>
        <p:nvSpPr>
          <p:cNvPr id="15" name="Text 13"/>
          <p:cNvSpPr/>
          <p:nvPr/>
        </p:nvSpPr>
        <p:spPr>
          <a:xfrm>
            <a:off x="777240" y="4654296"/>
            <a:ext cx="1051560" cy="1051560"/>
          </a:xfrm>
          <a:prstGeom prst="rect">
            <a:avLst/>
          </a:prstGeom>
          <a:noFill/>
          <a:ln/>
        </p:spPr>
        <p:txBody>
          <a:bodyPr wrap="square" rtlCol="0" anchor="ctr"/>
          <a:lstStyle/>
          <a:p>
            <a:pPr algn="ctr" indent="0" marL="0">
              <a:buNone/>
            </a:pPr>
            <a:r>
              <a:rPr lang="en-US" sz="2700" b="1" dirty="0">
                <a:solidFill>
                  <a:srgbClr val="FFFFFF"/>
                </a:solidFill>
                <a:latin typeface="Yu Gothic UI" pitchFamily="34" charset="0"/>
                <a:ea typeface="Yu Gothic UI" pitchFamily="34" charset="-122"/>
                <a:cs typeface="Yu Gothic UI" pitchFamily="34" charset="-120"/>
              </a:rPr>
              <a:t>03</a:t>
            </a:r>
            <a:endParaRPr lang="en-US" sz="2700" dirty="0"/>
          </a:p>
        </p:txBody>
      </p:sp>
      <p:sp>
        <p:nvSpPr>
          <p:cNvPr id="16" name="Text 14"/>
          <p:cNvSpPr/>
          <p:nvPr/>
        </p:nvSpPr>
        <p:spPr>
          <a:xfrm>
            <a:off x="2103120" y="4636008"/>
            <a:ext cx="9418320" cy="502920"/>
          </a:xfrm>
          <a:prstGeom prst="rect">
            <a:avLst/>
          </a:prstGeom>
          <a:noFill/>
          <a:ln/>
        </p:spPr>
        <p:txBody>
          <a:bodyPr wrap="square" rtlCol="0" anchor="ctr"/>
          <a:lstStyle/>
          <a:p>
            <a:pPr indent="0" marL="0">
              <a:buNone/>
            </a:pPr>
            <a:r>
              <a:rPr lang="en-US" sz="1800" b="1" dirty="0">
                <a:solidFill>
                  <a:srgbClr val="2B2B2B"/>
                </a:solidFill>
                <a:latin typeface="Yu Gothic UI" pitchFamily="34" charset="0"/>
                <a:ea typeface="Yu Gothic UI" pitchFamily="34" charset="-122"/>
                <a:cs typeface="Yu Gothic UI" pitchFamily="34" charset="-120"/>
              </a:rPr>
              <a:t>市の計画への反映</a:t>
            </a:r>
            <a:endParaRPr lang="en-US" sz="1800" dirty="0"/>
          </a:p>
        </p:txBody>
      </p:sp>
      <p:sp>
        <p:nvSpPr>
          <p:cNvPr id="17" name="Text 15"/>
          <p:cNvSpPr/>
          <p:nvPr/>
        </p:nvSpPr>
        <p:spPr>
          <a:xfrm>
            <a:off x="2103120" y="5157216"/>
            <a:ext cx="9418320" cy="54864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策定中の食品ロス計画に、地元発の具体的な選択肢として反映いただけますと幸いです</a:t>
            </a:r>
            <a:endParaRPr lang="en-US" sz="1300" dirty="0"/>
          </a:p>
        </p:txBody>
      </p:sp>
      <p:sp>
        <p:nvSpPr>
          <p:cNvPr id="18" name="Shape 16"/>
          <p:cNvSpPr/>
          <p:nvPr/>
        </p:nvSpPr>
        <p:spPr>
          <a:xfrm>
            <a:off x="548640" y="5897880"/>
            <a:ext cx="11064240" cy="685800"/>
          </a:xfrm>
          <a:prstGeom prst="roundRect">
            <a:avLst>
              <a:gd name="adj" fmla="val 13333"/>
            </a:avLst>
          </a:prstGeom>
          <a:solidFill>
            <a:srgbClr val="2B2B2B"/>
          </a:solidFill>
          <a:ln w="12700">
            <a:solidFill>
              <a:srgbClr val="2B2B2B"/>
            </a:solidFill>
            <a:prstDash val="solid"/>
          </a:ln>
        </p:spPr>
      </p:sp>
      <p:sp>
        <p:nvSpPr>
          <p:cNvPr id="19" name="Text 17"/>
          <p:cNvSpPr/>
          <p:nvPr/>
        </p:nvSpPr>
        <p:spPr>
          <a:xfrm>
            <a:off x="548640" y="5897880"/>
            <a:ext cx="11064240" cy="68580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第一歩として、担当課との打ち合わせの場をいただけますと幸いです。</a:t>
            </a:r>
            <a:endParaRPr lang="en-US" sz="1700" dirty="0"/>
          </a:p>
        </p:txBody>
      </p:sp>
      <p:sp>
        <p:nvSpPr>
          <p:cNvPr id="20" name="Text 18"/>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786C"/>
        </a:solidFill>
      </p:bgPr>
    </p:bg>
    <p:spTree>
      <p:nvGrpSpPr>
        <p:cNvPr id="1" name=""/>
        <p:cNvGrpSpPr/>
        <p:nvPr/>
      </p:nvGrpSpPr>
      <p:grpSpPr>
        <a:xfrm>
          <a:off x="0" y="0"/>
          <a:ext cx="0" cy="0"/>
          <a:chOff x="0" y="0"/>
          <a:chExt cx="0" cy="0"/>
        </a:xfrm>
      </p:grpSpPr>
      <p:sp>
        <p:nvSpPr>
          <p:cNvPr id="2" name="Text 0"/>
          <p:cNvSpPr/>
          <p:nvPr/>
        </p:nvSpPr>
        <p:spPr>
          <a:xfrm>
            <a:off x="731520" y="1463040"/>
            <a:ext cx="10515600" cy="914400"/>
          </a:xfrm>
          <a:prstGeom prst="rect">
            <a:avLst/>
          </a:prstGeom>
          <a:noFill/>
          <a:ln/>
        </p:spPr>
        <p:txBody>
          <a:bodyPr wrap="square" rtlCol="0" anchor="ctr"/>
          <a:lstStyle/>
          <a:p>
            <a:pPr indent="0" marL="0">
              <a:buNone/>
            </a:pPr>
            <a:r>
              <a:rPr lang="en-US" sz="3400" b="1" dirty="0">
                <a:solidFill>
                  <a:srgbClr val="FFFFFF"/>
                </a:solidFill>
                <a:latin typeface="Yu Gothic UI" pitchFamily="34" charset="0"/>
                <a:ea typeface="Yu Gothic UI" pitchFamily="34" charset="-122"/>
                <a:cs typeface="Yu Gothic UI" pitchFamily="34" charset="-120"/>
              </a:rPr>
              <a:t>地元・高槻から、食品ロスのない街へ。</a:t>
            </a:r>
            <a:endParaRPr lang="en-US" sz="3400" dirty="0"/>
          </a:p>
        </p:txBody>
      </p:sp>
      <p:sp>
        <p:nvSpPr>
          <p:cNvPr id="3" name="Text 1"/>
          <p:cNvSpPr/>
          <p:nvPr/>
        </p:nvSpPr>
        <p:spPr>
          <a:xfrm>
            <a:off x="731520" y="2468880"/>
            <a:ext cx="10515600" cy="457200"/>
          </a:xfrm>
          <a:prstGeom prst="rect">
            <a:avLst/>
          </a:prstGeom>
          <a:noFill/>
          <a:ln/>
        </p:spPr>
        <p:txBody>
          <a:bodyPr wrap="square" rtlCol="0" anchor="ctr"/>
          <a:lstStyle/>
          <a:p>
            <a:pPr indent="0" marL="0">
              <a:buNone/>
            </a:pPr>
            <a:r>
              <a:rPr lang="en-US" sz="1600" dirty="0">
                <a:solidFill>
                  <a:srgbClr val="FFF1EE"/>
                </a:solidFill>
                <a:latin typeface="Yu Gothic UI" pitchFamily="34" charset="0"/>
                <a:ea typeface="Yu Gothic UI" pitchFamily="34" charset="-122"/>
                <a:cs typeface="Yu Gothic UI" pitchFamily="34" charset="-120"/>
              </a:rPr>
              <a:t>本日はお時間をいただき、ありがとうございました。</a:t>
            </a:r>
            <a:endParaRPr lang="en-US" sz="1600" dirty="0"/>
          </a:p>
        </p:txBody>
      </p:sp>
      <p:sp>
        <p:nvSpPr>
          <p:cNvPr id="4" name="Shape 2"/>
          <p:cNvSpPr/>
          <p:nvPr/>
        </p:nvSpPr>
        <p:spPr>
          <a:xfrm>
            <a:off x="731520" y="3383280"/>
            <a:ext cx="10698480" cy="2194560"/>
          </a:xfrm>
          <a:prstGeom prst="roundRect">
            <a:avLst>
              <a:gd name="adj" fmla="val 5000"/>
            </a:avLst>
          </a:prstGeom>
          <a:solidFill>
            <a:srgbClr val="FFFFFF"/>
          </a:solidFill>
          <a:ln w="12700">
            <a:solidFill>
              <a:srgbClr val="FFFFFF"/>
            </a:solidFill>
            <a:prstDash val="solid"/>
          </a:ln>
        </p:spPr>
      </p:sp>
      <p:sp>
        <p:nvSpPr>
          <p:cNvPr id="5" name="Text 3"/>
          <p:cNvSpPr/>
          <p:nvPr/>
        </p:nvSpPr>
        <p:spPr>
          <a:xfrm>
            <a:off x="1005840" y="3611880"/>
            <a:ext cx="5486400" cy="365760"/>
          </a:xfrm>
          <a:prstGeom prst="rect">
            <a:avLst/>
          </a:prstGeom>
          <a:noFill/>
          <a:ln/>
        </p:spPr>
        <p:txBody>
          <a:bodyPr wrap="square" rtlCol="0" anchor="ctr"/>
          <a:lstStyle/>
          <a:p>
            <a:pPr indent="0" marL="0">
              <a:buNone/>
            </a:pPr>
            <a:r>
              <a:rPr lang="en-US" sz="1300" b="1" dirty="0">
                <a:solidFill>
                  <a:srgbClr val="E8786C"/>
                </a:solidFill>
                <a:latin typeface="Yu Gothic UI" pitchFamily="34" charset="0"/>
                <a:ea typeface="Yu Gothic UI" pitchFamily="34" charset="-122"/>
                <a:cs typeface="Yu Gothic UI" pitchFamily="34" charset="-120"/>
              </a:rPr>
              <a:t>お問い合わせ</a:t>
            </a:r>
            <a:endParaRPr lang="en-US" sz="1300" dirty="0"/>
          </a:p>
        </p:txBody>
      </p:sp>
      <p:sp>
        <p:nvSpPr>
          <p:cNvPr id="6" name="Text 4"/>
          <p:cNvSpPr/>
          <p:nvPr/>
        </p:nvSpPr>
        <p:spPr>
          <a:xfrm>
            <a:off x="1005840" y="411480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 Email</a:t>
            </a:r>
            <a:endParaRPr lang="en-US" sz="1300" dirty="0"/>
          </a:p>
        </p:txBody>
      </p:sp>
      <p:sp>
        <p:nvSpPr>
          <p:cNvPr id="7" name="Text 5"/>
          <p:cNvSpPr/>
          <p:nvPr/>
        </p:nvSpPr>
        <p:spPr>
          <a:xfrm>
            <a:off x="2834640" y="411480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hello@osusowakejapan.org</a:t>
            </a:r>
            <a:endParaRPr lang="en-US" sz="1400" dirty="0"/>
          </a:p>
        </p:txBody>
      </p:sp>
      <p:sp>
        <p:nvSpPr>
          <p:cNvPr id="8" name="Text 6"/>
          <p:cNvSpPr/>
          <p:nvPr/>
        </p:nvSpPr>
        <p:spPr>
          <a:xfrm>
            <a:off x="6309360" y="411480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 Web</a:t>
            </a:r>
            <a:endParaRPr lang="en-US" sz="1300" dirty="0"/>
          </a:p>
        </p:txBody>
      </p:sp>
      <p:sp>
        <p:nvSpPr>
          <p:cNvPr id="9" name="Text 7"/>
          <p:cNvSpPr/>
          <p:nvPr/>
        </p:nvSpPr>
        <p:spPr>
          <a:xfrm>
            <a:off x="8138160" y="411480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osusowakejapan.org</a:t>
            </a:r>
            <a:endParaRPr lang="en-US" sz="1400" dirty="0"/>
          </a:p>
        </p:txBody>
      </p:sp>
      <p:sp>
        <p:nvSpPr>
          <p:cNvPr id="10" name="Text 8"/>
          <p:cNvSpPr/>
          <p:nvPr/>
        </p:nvSpPr>
        <p:spPr>
          <a:xfrm>
            <a:off x="1005840" y="475488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 Instagram</a:t>
            </a:r>
            <a:endParaRPr lang="en-US" sz="1300" dirty="0"/>
          </a:p>
        </p:txBody>
      </p:sp>
      <p:sp>
        <p:nvSpPr>
          <p:cNvPr id="11" name="Text 9"/>
          <p:cNvSpPr/>
          <p:nvPr/>
        </p:nvSpPr>
        <p:spPr>
          <a:xfrm>
            <a:off x="2834640" y="475488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@osusowake_official</a:t>
            </a:r>
            <a:endParaRPr lang="en-US" sz="1400" dirty="0"/>
          </a:p>
        </p:txBody>
      </p:sp>
      <p:sp>
        <p:nvSpPr>
          <p:cNvPr id="12" name="Text 10"/>
          <p:cNvSpPr/>
          <p:nvPr/>
        </p:nvSpPr>
        <p:spPr>
          <a:xfrm>
            <a:off x="6309360" y="475488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𝕏 X</a:t>
            </a:r>
            <a:endParaRPr lang="en-US" sz="1300" dirty="0"/>
          </a:p>
        </p:txBody>
      </p:sp>
      <p:sp>
        <p:nvSpPr>
          <p:cNvPr id="13" name="Text 11"/>
          <p:cNvSpPr/>
          <p:nvPr/>
        </p:nvSpPr>
        <p:spPr>
          <a:xfrm>
            <a:off x="8138160" y="475488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@Osusowake_offi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おすそわけ 高槻副市長 面談資料</dc:title>
  <dc:subject>PptxGenJS Presentation</dc:subject>
  <dc:creator>梅本幸汰</dc:creator>
  <cp:lastModifiedBy>梅本幸汰</cp:lastModifiedBy>
  <cp:revision>1</cp:revision>
  <dcterms:created xsi:type="dcterms:W3CDTF">2026-07-20T07:01:20Z</dcterms:created>
  <dcterms:modified xsi:type="dcterms:W3CDTF">2026-07-20T07:01:20Z</dcterms:modified>
</cp:coreProperties>
</file>