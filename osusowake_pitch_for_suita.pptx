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78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3FA535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371600"/>
            <a:ext cx="10332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おすそわけ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914400" y="265176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Osusowake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914400" y="3566160"/>
            <a:ext cx="82296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566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食品ロスを、おすそわけに。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高槻発の食品ロス削減アプリ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5486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サービス概要のご案内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5943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2026年5月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WHAT IS IT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おすそわけは、こんなサービスです。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11064240" cy="3474720"/>
          </a:xfrm>
          <a:prstGeom prst="roundRect">
            <a:avLst>
              <a:gd name="adj" fmla="val 5263"/>
            </a:avLst>
          </a:prstGeom>
          <a:solidFill>
            <a:srgbClr val="FFF1EE"/>
          </a:solidFill>
          <a:ln w="12700">
            <a:solidFill>
              <a:srgbClr val="FFF1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46888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お店の売れ残りを、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338328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お客様がお得に購入できるアプリ。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45720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お店は廃棄ロスを減らし、お客様はお得に、地球は少しだけ優しく。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海外で実証済みの「Too Good To Go」モデルを、日本向けに最適化しています。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おすそわけ｜Osusowake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B2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OUR STORY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なぜ、私たちはこの事業を始めたのか。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914400" cy="54864"/>
          </a:xfrm>
          <a:prstGeom prst="rect">
            <a:avLst/>
          </a:prstGeom>
          <a:solidFill>
            <a:srgbClr val="E8786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377440"/>
            <a:ext cx="914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"</a:t>
            </a:r>
            <a:endParaRPr lang="en-US" sz="12000" dirty="0"/>
          </a:p>
        </p:txBody>
      </p:sp>
      <p:sp>
        <p:nvSpPr>
          <p:cNvPr id="6" name="Text 4"/>
          <p:cNvSpPr/>
          <p:nvPr/>
        </p:nvSpPr>
        <p:spPr>
          <a:xfrm>
            <a:off x="1371600" y="27432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一人の留学生の体験が、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371600" y="36576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地元・高槻で動き始めた小さな挑戦になった。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371600" y="49377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DDDD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そして今、北摂のまち全体に広げたいと考えています。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FOUNDER'S STORY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代表・佐藤勇飛のイギリス留学体験から。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657600" cy="4389120"/>
          </a:xfrm>
          <a:prstGeom prst="roundRect">
            <a:avLst>
              <a:gd name="adj" fmla="val 3750"/>
            </a:avLst>
          </a:prstGeom>
          <a:solidFill>
            <a:srgbClr val="FFF1EE"/>
          </a:solidFill>
          <a:ln w="12700">
            <a:solidFill>
              <a:srgbClr val="FFF1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37744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🇬🇧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548640" y="3840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2025年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2062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イギリス留学中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493776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生活費が底をついて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困っていた時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0" y="21945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「Too Good To Go」というアプリに出会った。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0" y="2743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スーパーやパン屋の閉店前商品を、半額以下で買える仕組み。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0" y="3474720"/>
            <a:ext cx="731520" cy="36576"/>
          </a:xfrm>
          <a:prstGeom prst="rect">
            <a:avLst/>
          </a:prstGeom>
          <a:solidFill>
            <a:srgbClr val="E8786C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3749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毎日このアプリでお腹を満たしながら、気づいた。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0" y="429768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廃棄予定だった食べ物が、誰かを助ける食事になっている。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食品ロスを減らしながら、お店もお客も幸せになる。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0" y="55778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「これを、日本でも作りたい」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576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おすそわけ｜Osusowake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3FA5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CO-FOUNDER'S STORY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副代表・梅本幸汰が参加した理由。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657600" cy="4389120"/>
          </a:xfrm>
          <a:prstGeom prst="roundRect">
            <a:avLst>
              <a:gd name="adj" fmla="val 3750"/>
            </a:avLst>
          </a:prstGeom>
          <a:solidFill>
            <a:srgbClr val="E8F5E5"/>
          </a:solidFill>
          <a:ln w="12700">
            <a:solidFill>
              <a:srgbClr val="E8F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37744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🏘️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548640" y="38404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地元・大阪府高槻市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457200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商店街のパン屋さんや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カフェに通いながら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大きくなった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0" y="21945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父はゼロから事業を立ち上げた人。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572000" y="2743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その背中を見て「将来は自分の事業を持ちたい」と考えていた。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0" y="3383280"/>
            <a:ext cx="731520" cy="36576"/>
          </a:xfrm>
          <a:prstGeom prst="rect">
            <a:avLst/>
          </a:prstGeom>
          <a:solidFill>
            <a:srgbClr val="3FA53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36576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勇飛とは小学校のサッカー時代からの仲間。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72000" y="42062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留学から帰ってきた彼が「これを日本でやりたい」と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話した時、本気の目をしていた。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0" y="5303520"/>
            <a:ext cx="731520" cy="36576"/>
          </a:xfrm>
          <a:prstGeom prst="rect">
            <a:avLst/>
          </a:prstGeom>
          <a:solidFill>
            <a:srgbClr val="3FA53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0" y="5486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FA5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「儲かる事業」ではなく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0" y="5943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FA5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「無くなったら誰かが困る事業」を作りたい。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6576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おすそわけ｜Osusowake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MISSION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914400" cy="54864"/>
          </a:xfrm>
          <a:prstGeom prst="rect">
            <a:avLst/>
          </a:prstGeom>
          <a:solidFill>
            <a:srgbClr val="E8786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食品ロスを、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548640" y="301752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おすそわけに。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548640" y="4754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お店の売れ残りを、お得に・おいしく・地球に優しく。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おすそわけ｜Osusowake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B2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PROBLEM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日本の食品ロス、年間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73152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0" b="1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472</a:t>
            </a:r>
            <a:endParaRPr lang="en-US" sz="28000" dirty="0"/>
          </a:p>
        </p:txBody>
      </p:sp>
      <p:sp>
        <p:nvSpPr>
          <p:cNvPr id="5" name="Text 3"/>
          <p:cNvSpPr/>
          <p:nvPr/>
        </p:nvSpPr>
        <p:spPr>
          <a:xfrm>
            <a:off x="6400800" y="320040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万トン</a:t>
            </a:r>
            <a:endParaRPr lang="en-US" sz="5600" dirty="0"/>
          </a:p>
        </p:txBody>
      </p:sp>
      <p:sp>
        <p:nvSpPr>
          <p:cNvPr id="6" name="Shape 4"/>
          <p:cNvSpPr/>
          <p:nvPr/>
        </p:nvSpPr>
        <p:spPr>
          <a:xfrm>
            <a:off x="548640" y="5303520"/>
            <a:ext cx="10972800" cy="54864"/>
          </a:xfrm>
          <a:prstGeom prst="rect">
            <a:avLst/>
          </a:prstGeom>
          <a:solidFill>
            <a:srgbClr val="E8786C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54864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国民1人あたり、毎日お茶碗1杯分のご飯を捨てている計算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AAAA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出典：環境省・農林水産省（令和3年度推計）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LOCAL IMPACT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そして、北摂エリアでも。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394960" cy="4206240"/>
          </a:xfrm>
          <a:prstGeom prst="roundRect">
            <a:avLst>
              <a:gd name="adj" fmla="val 3261"/>
            </a:avLst>
          </a:prstGeom>
          <a:solidFill>
            <a:srgbClr val="FFF1EE"/>
          </a:solidFill>
          <a:ln w="12700">
            <a:solidFill>
              <a:srgbClr val="FFF1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19456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高槻市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2926080"/>
            <a:ext cx="5394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約 9,300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548640" y="420624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</a:rPr>
              <a:t>トン / 年（推計）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75488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2B2B"/>
                </a:solidFill>
              </a:rPr>
              <a:t>市民一人あたり 約26kg / 年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521208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</a:rPr>
              <a:t>人口 約35万人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2011680"/>
            <a:ext cx="5394960" cy="4206240"/>
          </a:xfrm>
          <a:prstGeom prst="roundRect">
            <a:avLst>
              <a:gd name="adj" fmla="val 3261"/>
            </a:avLst>
          </a:prstGeom>
          <a:solidFill>
            <a:srgbClr val="E8F5E5"/>
          </a:solidFill>
          <a:ln w="12700">
            <a:solidFill>
              <a:srgbClr val="3FA5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219456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FA5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吹田市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217920" y="2926080"/>
            <a:ext cx="5394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約 9,800</a:t>
            </a:r>
            <a:endParaRPr lang="en-US" sz="6400" dirty="0"/>
          </a:p>
        </p:txBody>
      </p:sp>
      <p:sp>
        <p:nvSpPr>
          <p:cNvPr id="13" name="Text 11"/>
          <p:cNvSpPr/>
          <p:nvPr/>
        </p:nvSpPr>
        <p:spPr>
          <a:xfrm>
            <a:off x="6217920" y="420624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</a:rPr>
              <a:t>トン / 年（推計）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217920" y="475488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2B2B"/>
                </a:solidFill>
              </a:rPr>
              <a:t>市民一人あたり 約26kg / 年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17920" y="521208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</a:rPr>
              <a:t>人口 約38万人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全国平均値（国民1人あたり約26kg/年）を市の人口に乗じた概算値。正確な数値は自治体公表値をご参照ください。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おすそわけ｜Osusowake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8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SOLUTION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使い方は超シンプル、3ステップ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3566160" cy="3840480"/>
          </a:xfrm>
          <a:prstGeom prst="roundRect">
            <a:avLst>
              <a:gd name="adj" fmla="val 3846"/>
            </a:avLst>
          </a:prstGeom>
          <a:solidFill>
            <a:srgbClr val="FFF1EE"/>
          </a:solidFill>
          <a:ln w="12700">
            <a:solidFill>
              <a:srgbClr val="FFF1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2860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🔍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548640" y="429768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お店を探す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493776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近くの加盟店の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余り物をチェック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89120" y="2194560"/>
            <a:ext cx="3566160" cy="3840480"/>
          </a:xfrm>
          <a:prstGeom prst="roundRect">
            <a:avLst>
              <a:gd name="adj" fmla="val 3846"/>
            </a:avLst>
          </a:prstGeom>
          <a:solidFill>
            <a:srgbClr val="FFF1EE"/>
          </a:solidFill>
          <a:ln w="12700">
            <a:solidFill>
              <a:srgbClr val="FFF1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22860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02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389120" y="301752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🛒</a:t>
            </a:r>
            <a:endParaRPr lang="en-US" sz="6400" dirty="0"/>
          </a:p>
        </p:txBody>
      </p:sp>
      <p:sp>
        <p:nvSpPr>
          <p:cNvPr id="12" name="Text 10"/>
          <p:cNvSpPr/>
          <p:nvPr/>
        </p:nvSpPr>
        <p:spPr>
          <a:xfrm>
            <a:off x="4389120" y="429768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購入する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572000" y="493776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特別価格でアプリから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簡単に購入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0" y="2194560"/>
            <a:ext cx="3566160" cy="3840480"/>
          </a:xfrm>
          <a:prstGeom prst="roundRect">
            <a:avLst>
              <a:gd name="adj" fmla="val 3846"/>
            </a:avLst>
          </a:prstGeom>
          <a:solidFill>
            <a:srgbClr val="FFF1EE"/>
          </a:solidFill>
          <a:ln w="12700">
            <a:solidFill>
              <a:srgbClr val="FFF1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0" y="22860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03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8229600" y="301752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🥖</a:t>
            </a:r>
            <a:endParaRPr lang="en-US" sz="6400" dirty="0"/>
          </a:p>
        </p:txBody>
      </p:sp>
      <p:sp>
        <p:nvSpPr>
          <p:cNvPr id="17" name="Text 15"/>
          <p:cNvSpPr/>
          <p:nvPr/>
        </p:nvSpPr>
        <p:spPr>
          <a:xfrm>
            <a:off x="8229600" y="429768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受け取る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412480" y="493776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指定時間にお店へ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ピックアップ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6576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おすそわけ｜Osusowake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9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BUSINESS MODEL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お店リスクゼロの仕組み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3566160" cy="310896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38100">
            <a:solidFill>
              <a:srgbClr val="3FA5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46888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3FA5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¥0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548640" y="438912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初期費用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389120" y="2194560"/>
            <a:ext cx="3566160" cy="310896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38100">
            <a:solidFill>
              <a:srgbClr val="3FA5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0" y="246888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3FA5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¥0</a:t>
            </a:r>
            <a:endParaRPr lang="en-US" sz="9600" dirty="0"/>
          </a:p>
        </p:txBody>
      </p:sp>
      <p:sp>
        <p:nvSpPr>
          <p:cNvPr id="9" name="Text 7"/>
          <p:cNvSpPr/>
          <p:nvPr/>
        </p:nvSpPr>
        <p:spPr>
          <a:xfrm>
            <a:off x="4389120" y="438912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月額固定費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229600" y="2194560"/>
            <a:ext cx="3566160" cy="310896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38100">
            <a:solidFill>
              <a:srgbClr val="E8786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0" y="246888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25%</a:t>
            </a:r>
            <a:endParaRPr lang="en-US" sz="9600" dirty="0"/>
          </a:p>
        </p:txBody>
      </p:sp>
      <p:sp>
        <p:nvSpPr>
          <p:cNvPr id="12" name="Text 10"/>
          <p:cNvSpPr/>
          <p:nvPr/>
        </p:nvSpPr>
        <p:spPr>
          <a:xfrm>
            <a:off x="8229600" y="438912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売れた分だけ手数料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5577840"/>
            <a:ext cx="11064240" cy="640080"/>
          </a:xfrm>
          <a:prstGeom prst="roundRect">
            <a:avLst>
              <a:gd name="adj" fmla="val 14286"/>
            </a:avLst>
          </a:prstGeom>
          <a:solidFill>
            <a:srgbClr val="FFF1EE"/>
          </a:solidFill>
          <a:ln w="12700">
            <a:solidFill>
              <a:srgbClr val="FFF1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55778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Stripe決済（業界最高水準のセキュリティ）｜売れ残っても費用は発生しません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576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おすそわけ｜Osusowake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WHY IT WORKS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三方良しの構造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3566160" cy="402336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25400">
            <a:solidFill>
              <a:srgbClr val="E8786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194560"/>
            <a:ext cx="3566160" cy="640080"/>
          </a:xfrm>
          <a:prstGeom prst="rect">
            <a:avLst/>
          </a:prstGeom>
          <a:solidFill>
            <a:srgbClr val="E8786C"/>
          </a:solidFill>
          <a:ln w="12700">
            <a:solidFill>
              <a:srgbClr val="E8786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19456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お店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301752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🏪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731520" y="4572000"/>
            <a:ext cx="3200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廃棄ロス削減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+ 新規顧客獲得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+ ブランド向上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89120" y="2194560"/>
            <a:ext cx="3566160" cy="402336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25400">
            <a:solidFill>
              <a:srgbClr val="3FA53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0" y="2194560"/>
            <a:ext cx="3566160" cy="640080"/>
          </a:xfrm>
          <a:prstGeom prst="rect">
            <a:avLst/>
          </a:prstGeom>
          <a:solidFill>
            <a:srgbClr val="3FA535"/>
          </a:solidFill>
          <a:ln w="12700">
            <a:solidFill>
              <a:srgbClr val="3FA5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0" y="219456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お客様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389120" y="301752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👤</a:t>
            </a:r>
            <a:endParaRPr lang="en-US" sz="8000" dirty="0"/>
          </a:p>
        </p:txBody>
      </p:sp>
      <p:sp>
        <p:nvSpPr>
          <p:cNvPr id="13" name="Text 11"/>
          <p:cNvSpPr/>
          <p:nvPr/>
        </p:nvSpPr>
        <p:spPr>
          <a:xfrm>
            <a:off x="4572000" y="4572000"/>
            <a:ext cx="3200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お得に購入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+ 食品ロス削減に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参加できる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229600" y="2194560"/>
            <a:ext cx="3566160" cy="402336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2194560"/>
            <a:ext cx="356616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0" y="219456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地域・地球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229600" y="301752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🌍</a:t>
            </a:r>
            <a:endParaRPr lang="en-US" sz="8000" dirty="0"/>
          </a:p>
        </p:txBody>
      </p:sp>
      <p:sp>
        <p:nvSpPr>
          <p:cNvPr id="18" name="Text 16"/>
          <p:cNvSpPr/>
          <p:nvPr/>
        </p:nvSpPr>
        <p:spPr>
          <a:xfrm>
            <a:off x="8412480" y="4572000"/>
            <a:ext cx="3200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CO2削減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+ 地域経済活性化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+ SDGs達成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6576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おすそわけ｜Osusowake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TRACTION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高槻で、もう動いています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468880"/>
            <a:ext cx="1097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🤝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2103120" y="23774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提携契約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103120" y="274320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9店 締結済み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103120" y="34747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ベーカリー・飲食・スイーツ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219456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2468880"/>
            <a:ext cx="1097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🏪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7772400" y="23774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高槻エリア把握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0" y="274320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50店超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7772400" y="34747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営業中31店・契約交渉中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20624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480560"/>
            <a:ext cx="1097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📧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2103120" y="43891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本社アプローチ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103120" y="475488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複数社 接触中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2103120" y="54864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地元チェーン含む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420624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4480560"/>
            <a:ext cx="1097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🚀</a:t>
            </a:r>
            <a:endParaRPr lang="en-US" sz="4800" dirty="0"/>
          </a:p>
        </p:txBody>
      </p:sp>
      <p:sp>
        <p:nvSpPr>
          <p:cNvPr id="21" name="Text 19"/>
          <p:cNvSpPr/>
          <p:nvPr/>
        </p:nvSpPr>
        <p:spPr>
          <a:xfrm>
            <a:off x="7772400" y="43891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正式リリース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772400" y="475488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7月1日(水)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7772400" y="54864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App Store審査通過済み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おすそわけ｜Osusowake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ROADMAP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ローンチ前後3ヶ月の計画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697480" cy="402336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25400">
            <a:solidFill>
              <a:srgbClr val="6666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194560"/>
            <a:ext cx="2697480" cy="640080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19456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5月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301752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ローンチ準備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840480"/>
            <a:ext cx="23317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・営業強化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・SNS立ち上げ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・自治体連携交渉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2194560"/>
            <a:ext cx="2697480" cy="402336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25400">
            <a:solidFill>
              <a:srgbClr val="E8786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83280" y="2194560"/>
            <a:ext cx="2697480" cy="640080"/>
          </a:xfrm>
          <a:prstGeom prst="rect">
            <a:avLst/>
          </a:prstGeom>
          <a:solidFill>
            <a:srgbClr val="E8786C"/>
          </a:solidFill>
          <a:ln w="12700">
            <a:solidFill>
              <a:srgbClr val="E8786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219456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7/1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383280" y="301752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🚀 高槻ローンチ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66160" y="3840480"/>
            <a:ext cx="23317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・正式リリース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・PR・SNS本格運用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・初期ユーザー獲得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2194560"/>
            <a:ext cx="2697480" cy="402336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25400">
            <a:solidFill>
              <a:srgbClr val="3FA53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2194560"/>
            <a:ext cx="2697480" cy="640080"/>
          </a:xfrm>
          <a:prstGeom prst="rect">
            <a:avLst/>
          </a:prstGeom>
          <a:solidFill>
            <a:srgbClr val="3FA535"/>
          </a:solidFill>
          <a:ln w="12700">
            <a:solidFill>
              <a:srgbClr val="3FA5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219456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7月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217920" y="301752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吹田展開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0" y="3840480"/>
            <a:ext cx="23317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・吹田店舗開拓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・関大連携開始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・モニター運用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052560" y="2194560"/>
            <a:ext cx="2697480" cy="402336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52560" y="2194560"/>
            <a:ext cx="269748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52560" y="219456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8月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052560" y="301752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北摂拡大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235440" y="3840480"/>
            <a:ext cx="23317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・茨木・摂津に拡大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・チェーン本社合意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・1,000ユーザー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おすそわけ｜Osusowake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EXPANSION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北摂2市、同時連携へ。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303520" cy="3931920"/>
          </a:xfrm>
          <a:prstGeom prst="roundRect">
            <a:avLst>
              <a:gd name="adj" fmla="val 3488"/>
            </a:avLst>
          </a:prstGeom>
          <a:solidFill>
            <a:srgbClr val="FFF1EE"/>
          </a:solidFill>
          <a:ln w="12700">
            <a:solidFill>
              <a:srgbClr val="FFF1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28600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📍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548640" y="329184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高槻市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393192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B2B2B"/>
                </a:solidFill>
              </a:rPr>
              <a:t>起点エリア・営業ほぼ完了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38912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</a:rPr>
              <a:t>7/1 ローンチ予定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852160" y="3474720"/>
            <a:ext cx="457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＋</a:t>
            </a:r>
            <a:endParaRPr lang="en-US" sz="4800" dirty="0"/>
          </a:p>
        </p:txBody>
      </p:sp>
      <p:sp>
        <p:nvSpPr>
          <p:cNvPr id="10" name="Shape 8"/>
          <p:cNvSpPr/>
          <p:nvPr/>
        </p:nvSpPr>
        <p:spPr>
          <a:xfrm>
            <a:off x="6309360" y="2103120"/>
            <a:ext cx="5303520" cy="3931920"/>
          </a:xfrm>
          <a:prstGeom prst="roundRect">
            <a:avLst>
              <a:gd name="adj" fmla="val 3488"/>
            </a:avLst>
          </a:prstGeom>
          <a:solidFill>
            <a:srgbClr val="E8F5E5"/>
          </a:solidFill>
          <a:ln w="25400">
            <a:solidFill>
              <a:srgbClr val="3FA5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228600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📍</a:t>
            </a:r>
            <a:endParaRPr lang="en-US" sz="5600" dirty="0"/>
          </a:p>
        </p:txBody>
      </p:sp>
      <p:sp>
        <p:nvSpPr>
          <p:cNvPr id="12" name="Text 10"/>
          <p:cNvSpPr/>
          <p:nvPr/>
        </p:nvSpPr>
        <p:spPr>
          <a:xfrm>
            <a:off x="6309360" y="329184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FA5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吹田市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309360" y="393192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B2B2B"/>
                </a:solidFill>
              </a:rPr>
              <a:t>関大千里山キャンパスあり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09360" y="438912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</a:rPr>
              <a:t>学生×行政連携の最適エリア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北摂2市同時連携は、単市連携の 3倍 のPRインパクト。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6576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おすそわけ｜Osusowake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3FA5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PARTNERSHIP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自治体・商工会議所との連携でできること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E8F5E5"/>
          </a:solidFill>
          <a:ln w="12700">
            <a:solidFill>
              <a:srgbClr val="E8F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468880"/>
            <a:ext cx="1097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📊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2103120" y="24231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食品ロス削減レポート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103120" y="288036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市内の削減量を毎月レポート。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施策の効果可視化に活用可能。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219456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E8F5E5"/>
          </a:solidFill>
          <a:ln w="12700">
            <a:solidFill>
              <a:srgbClr val="E8F5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2468880"/>
            <a:ext cx="1097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🤝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7772400" y="24231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市内事業者の支援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0" y="288036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廃棄ロスに困っている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地元店舗のサポート窓口に。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20624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E8F5E5"/>
          </a:solidFill>
          <a:ln w="12700">
            <a:solidFill>
              <a:srgbClr val="E8F5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480560"/>
            <a:ext cx="1097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🎓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2103120" y="44348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関西大学との連携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103120" y="489204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千里山キャンパスを起点に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学生×地域の協働モデル。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420624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E8F5E5"/>
          </a:solidFill>
          <a:ln w="12700">
            <a:solidFill>
              <a:srgbClr val="E8F5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4480560"/>
            <a:ext cx="1097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🌱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7772400" y="44348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SDGs目標への貢献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772400" y="489204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目標12「つくる責任つかう責任」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の具体的な施策として。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おすそわけ｜Osusowake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878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お気軽にご相談ください。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22860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地域の食品ロス削減について、一緒に考えさせてください。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3291840"/>
            <a:ext cx="11064240" cy="292608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3429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CONTACT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3749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おすそわけプロジェクト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4206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関西大学・立命館大学・龍谷大学の有志による合同チーム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48463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📧 Email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468880" y="4846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hello.osusowake@gmail.com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309360" y="48463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📷 Instagram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955280" y="4846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@osusowake_official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53949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𝕏 X (Twitter)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68880" y="5394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@Osusowake_offi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09360" y="53949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🌐 Web版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955280" y="5394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osusowakejapan.org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おすそわけ サービス概要（外部配布版）</dc:title>
  <dc:subject>PptxGenJS Presentation</dc:subject>
  <dc:creator>おすそわけプロジェクト</dc:creator>
  <cp:lastModifiedBy>おすそわけプロジェクト</cp:lastModifiedBy>
  <cp:revision>1</cp:revision>
  <dcterms:created xsi:type="dcterms:W3CDTF">2026-05-30T05:36:40Z</dcterms:created>
  <dcterms:modified xsi:type="dcterms:W3CDTF">2026-05-30T05:36:40Z</dcterms:modified>
</cp:coreProperties>
</file>